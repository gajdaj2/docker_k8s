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8" r:id="rId10"/>
    <p:sldId id="269" r:id="rId11"/>
    <p:sldId id="270" r:id="rId12"/>
    <p:sldId id="341" r:id="rId13"/>
    <p:sldId id="340" r:id="rId14"/>
    <p:sldId id="337" r:id="rId15"/>
    <p:sldId id="338" r:id="rId16"/>
    <p:sldId id="339" r:id="rId17"/>
    <p:sldId id="272" r:id="rId18"/>
    <p:sldId id="274" r:id="rId19"/>
    <p:sldId id="276" r:id="rId20"/>
    <p:sldId id="277" r:id="rId21"/>
    <p:sldId id="284" r:id="rId22"/>
    <p:sldId id="342" r:id="rId23"/>
    <p:sldId id="278" r:id="rId24"/>
    <p:sldId id="279" r:id="rId25"/>
    <p:sldId id="283" r:id="rId26"/>
    <p:sldId id="280" r:id="rId27"/>
    <p:sldId id="281" r:id="rId28"/>
    <p:sldId id="282" r:id="rId29"/>
    <p:sldId id="288" r:id="rId30"/>
    <p:sldId id="285" r:id="rId31"/>
    <p:sldId id="286" r:id="rId32"/>
    <p:sldId id="287" r:id="rId33"/>
    <p:sldId id="290" r:id="rId34"/>
    <p:sldId id="350" r:id="rId35"/>
    <p:sldId id="289" r:id="rId36"/>
    <p:sldId id="291" r:id="rId37"/>
    <p:sldId id="293" r:id="rId38"/>
    <p:sldId id="294" r:id="rId39"/>
    <p:sldId id="295" r:id="rId40"/>
    <p:sldId id="296" r:id="rId41"/>
    <p:sldId id="297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01" r:id="rId50"/>
    <p:sldId id="298" r:id="rId51"/>
    <p:sldId id="299" r:id="rId52"/>
    <p:sldId id="300" r:id="rId53"/>
    <p:sldId id="302" r:id="rId54"/>
    <p:sldId id="303" r:id="rId55"/>
    <p:sldId id="304" r:id="rId56"/>
    <p:sldId id="308" r:id="rId57"/>
    <p:sldId id="309" r:id="rId58"/>
    <p:sldId id="310" r:id="rId59"/>
    <p:sldId id="311" r:id="rId60"/>
    <p:sldId id="312" r:id="rId61"/>
    <p:sldId id="314" r:id="rId62"/>
    <p:sldId id="313" r:id="rId63"/>
    <p:sldId id="315" r:id="rId64"/>
    <p:sldId id="316" r:id="rId65"/>
    <p:sldId id="317" r:id="rId66"/>
    <p:sldId id="318" r:id="rId67"/>
    <p:sldId id="319" r:id="rId68"/>
    <p:sldId id="261" r:id="rId69"/>
    <p:sldId id="262" r:id="rId70"/>
    <p:sldId id="320" r:id="rId71"/>
    <p:sldId id="325" r:id="rId72"/>
    <p:sldId id="331" r:id="rId73"/>
    <p:sldId id="332" r:id="rId74"/>
    <p:sldId id="275" r:id="rId75"/>
    <p:sldId id="324" r:id="rId7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3"/>
    <p:restoredTop sz="94685"/>
  </p:normalViewPr>
  <p:slideViewPr>
    <p:cSldViewPr snapToGrid="0">
      <p:cViewPr varScale="1">
        <p:scale>
          <a:sx n="134" d="100"/>
          <a:sy n="134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C9172-0E81-4678-9B91-055C7464BB9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8D1DB1-86A4-4218-808C-64A78EE46764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F49817F7-1EAF-4020-910A-0444F478E1B5}" type="parTrans" cxnId="{1803B73C-ED18-46B7-BFB7-F09CBB7B1BB0}">
      <dgm:prSet/>
      <dgm:spPr/>
      <dgm:t>
        <a:bodyPr/>
        <a:lstStyle/>
        <a:p>
          <a:endParaRPr lang="en-US"/>
        </a:p>
      </dgm:t>
    </dgm:pt>
    <dgm:pt modelId="{4A11CDE9-B93A-4B12-9899-52BF792915EE}" type="sibTrans" cxnId="{1803B73C-ED18-46B7-BFB7-F09CBB7B1BB0}">
      <dgm:prSet/>
      <dgm:spPr/>
      <dgm:t>
        <a:bodyPr/>
        <a:lstStyle/>
        <a:p>
          <a:endParaRPr lang="en-US"/>
        </a:p>
      </dgm:t>
    </dgm:pt>
    <dgm:pt modelId="{62F8DDC0-A608-48BF-8954-25CE1BBFB971}">
      <dgm:prSet/>
      <dgm:spPr/>
      <dgm:t>
        <a:bodyPr/>
        <a:lstStyle/>
        <a:p>
          <a:r>
            <a:rPr lang="pl-PL"/>
            <a:t>Tworzenie Dockerfile dla aplikacji</a:t>
          </a:r>
          <a:endParaRPr lang="en-US"/>
        </a:p>
      </dgm:t>
    </dgm:pt>
    <dgm:pt modelId="{C0275CA2-EEF7-4895-9649-149806AC20E8}" type="parTrans" cxnId="{C78E11F8-0F1E-4231-8F6C-ED4FA8E8257C}">
      <dgm:prSet/>
      <dgm:spPr/>
      <dgm:t>
        <a:bodyPr/>
        <a:lstStyle/>
        <a:p>
          <a:endParaRPr lang="en-US"/>
        </a:p>
      </dgm:t>
    </dgm:pt>
    <dgm:pt modelId="{93DDEAC6-36F7-4949-B1C3-57BF03F2F053}" type="sibTrans" cxnId="{C78E11F8-0F1E-4231-8F6C-ED4FA8E8257C}">
      <dgm:prSet/>
      <dgm:spPr/>
      <dgm:t>
        <a:bodyPr/>
        <a:lstStyle/>
        <a:p>
          <a:endParaRPr lang="en-US"/>
        </a:p>
      </dgm:t>
    </dgm:pt>
    <dgm:pt modelId="{9DD90F1D-66B2-43BE-8AE0-78EDCB2D74F6}">
      <dgm:prSet/>
      <dgm:spPr/>
      <dgm:t>
        <a:bodyPr/>
        <a:lstStyle/>
        <a:p>
          <a:r>
            <a:rPr lang="pl-PL"/>
            <a:t>Optymalizacja obrazów Docker</a:t>
          </a:r>
          <a:endParaRPr lang="en-US"/>
        </a:p>
      </dgm:t>
    </dgm:pt>
    <dgm:pt modelId="{73F39D5B-82F3-497D-83F5-BF6D355EFC0E}" type="parTrans" cxnId="{6C3B5DBD-E812-455A-91AA-AE57AD7FA68F}">
      <dgm:prSet/>
      <dgm:spPr/>
      <dgm:t>
        <a:bodyPr/>
        <a:lstStyle/>
        <a:p>
          <a:endParaRPr lang="en-US"/>
        </a:p>
      </dgm:t>
    </dgm:pt>
    <dgm:pt modelId="{540C4A8D-841D-4F4E-82EF-71FD3AA0B908}" type="sibTrans" cxnId="{6C3B5DBD-E812-455A-91AA-AE57AD7FA68F}">
      <dgm:prSet/>
      <dgm:spPr/>
      <dgm:t>
        <a:bodyPr/>
        <a:lstStyle/>
        <a:p>
          <a:endParaRPr lang="en-US"/>
        </a:p>
      </dgm:t>
    </dgm:pt>
    <dgm:pt modelId="{F5C0EBCF-81A2-4570-A65A-05F449F94A8D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ADA6A3CC-BA6D-4F0F-9239-71AA7664F2DB}" type="parTrans" cxnId="{F44A8CB0-2D29-4EA5-9161-E7CA5C9FC8A8}">
      <dgm:prSet/>
      <dgm:spPr/>
      <dgm:t>
        <a:bodyPr/>
        <a:lstStyle/>
        <a:p>
          <a:endParaRPr lang="en-US"/>
        </a:p>
      </dgm:t>
    </dgm:pt>
    <dgm:pt modelId="{AF158004-2AA7-4FA3-8A2E-C9D020B475E5}" type="sibTrans" cxnId="{F44A8CB0-2D29-4EA5-9161-E7CA5C9FC8A8}">
      <dgm:prSet/>
      <dgm:spPr/>
      <dgm:t>
        <a:bodyPr/>
        <a:lstStyle/>
        <a:p>
          <a:endParaRPr lang="en-US"/>
        </a:p>
      </dgm:t>
    </dgm:pt>
    <dgm:pt modelId="{7D8F64A0-6AB0-40F3-BE80-E9BE67F93384}">
      <dgm:prSet/>
      <dgm:spPr/>
      <dgm:t>
        <a:bodyPr/>
        <a:lstStyle/>
        <a:p>
          <a:r>
            <a:rPr lang="pl-PL"/>
            <a:t>Struktura Dockerfile i instrukcje</a:t>
          </a:r>
          <a:endParaRPr lang="en-US"/>
        </a:p>
      </dgm:t>
    </dgm:pt>
    <dgm:pt modelId="{D9163390-61C2-41F0-85DB-4CA13854411B}" type="parTrans" cxnId="{054CF70C-B6B3-4FD7-9BE4-C8EF7839AF53}">
      <dgm:prSet/>
      <dgm:spPr/>
      <dgm:t>
        <a:bodyPr/>
        <a:lstStyle/>
        <a:p>
          <a:endParaRPr lang="en-US"/>
        </a:p>
      </dgm:t>
    </dgm:pt>
    <dgm:pt modelId="{44DB0385-8006-48F4-B1E6-E5CFA32E4B2C}" type="sibTrans" cxnId="{054CF70C-B6B3-4FD7-9BE4-C8EF7839AF53}">
      <dgm:prSet/>
      <dgm:spPr/>
      <dgm:t>
        <a:bodyPr/>
        <a:lstStyle/>
        <a:p>
          <a:endParaRPr lang="en-US"/>
        </a:p>
      </dgm:t>
    </dgm:pt>
    <dgm:pt modelId="{484D3BE3-219B-409B-99F7-30B5FA3F0631}">
      <dgm:prSet/>
      <dgm:spPr/>
      <dgm:t>
        <a:bodyPr/>
        <a:lstStyle/>
        <a:p>
          <a:r>
            <a:rPr lang="pl-PL"/>
            <a:t>Best practices: warstwy, cache, minimalizacja rozmiaru</a:t>
          </a:r>
          <a:endParaRPr lang="en-US"/>
        </a:p>
      </dgm:t>
    </dgm:pt>
    <dgm:pt modelId="{55774457-5306-4403-97DB-00817CAE323A}" type="parTrans" cxnId="{6120672E-F168-466E-B494-6787EA7C6B5B}">
      <dgm:prSet/>
      <dgm:spPr/>
      <dgm:t>
        <a:bodyPr/>
        <a:lstStyle/>
        <a:p>
          <a:endParaRPr lang="en-US"/>
        </a:p>
      </dgm:t>
    </dgm:pt>
    <dgm:pt modelId="{BAD3C99C-77B9-46AA-902A-47987FDB96A0}" type="sibTrans" cxnId="{6120672E-F168-466E-B494-6787EA7C6B5B}">
      <dgm:prSet/>
      <dgm:spPr/>
      <dgm:t>
        <a:bodyPr/>
        <a:lstStyle/>
        <a:p>
          <a:endParaRPr lang="en-US"/>
        </a:p>
      </dgm:t>
    </dgm:pt>
    <dgm:pt modelId="{BB145F10-7991-4A91-8A48-0148188B34E6}">
      <dgm:prSet/>
      <dgm:spPr/>
      <dgm:t>
        <a:bodyPr/>
        <a:lstStyle/>
        <a:p>
          <a:r>
            <a:rPr lang="pl-PL"/>
            <a:t>Multi-stage builds</a:t>
          </a:r>
          <a:endParaRPr lang="en-US"/>
        </a:p>
      </dgm:t>
    </dgm:pt>
    <dgm:pt modelId="{772F5AB8-E42E-442C-BE96-9F7A1DF9353B}" type="parTrans" cxnId="{CB5865EC-9E9D-419C-A65F-144E6E31ED05}">
      <dgm:prSet/>
      <dgm:spPr/>
      <dgm:t>
        <a:bodyPr/>
        <a:lstStyle/>
        <a:p>
          <a:endParaRPr lang="en-US"/>
        </a:p>
      </dgm:t>
    </dgm:pt>
    <dgm:pt modelId="{EBD770E8-F4EC-4528-8B72-FD4B00AD624F}" type="sibTrans" cxnId="{CB5865EC-9E9D-419C-A65F-144E6E31ED05}">
      <dgm:prSet/>
      <dgm:spPr/>
      <dgm:t>
        <a:bodyPr/>
        <a:lstStyle/>
        <a:p>
          <a:endParaRPr lang="en-US"/>
        </a:p>
      </dgm:t>
    </dgm:pt>
    <dgm:pt modelId="{46795DF5-B9B9-47D9-9DE2-B1304003DBAC}">
      <dgm:prSet/>
      <dgm:spPr/>
      <dgm:t>
        <a:bodyPr/>
        <a:lstStyle/>
        <a:p>
          <a:r>
            <a:rPr lang="pl-PL"/>
            <a:t>LAB: Utworzenie Dockerfile dla aplikacji Python</a:t>
          </a:r>
          <a:endParaRPr lang="en-US"/>
        </a:p>
      </dgm:t>
    </dgm:pt>
    <dgm:pt modelId="{4B2B70D2-C9A2-4C0A-94D6-3453ADBFB903}" type="parTrans" cxnId="{282562B3-2D38-4A4E-BADB-FE9163AD4EB0}">
      <dgm:prSet/>
      <dgm:spPr/>
      <dgm:t>
        <a:bodyPr/>
        <a:lstStyle/>
        <a:p>
          <a:endParaRPr lang="en-US"/>
        </a:p>
      </dgm:t>
    </dgm:pt>
    <dgm:pt modelId="{B844A1AF-0D4A-4339-AFE4-F08DF9CBEC55}" type="sibTrans" cxnId="{282562B3-2D38-4A4E-BADB-FE9163AD4EB0}">
      <dgm:prSet/>
      <dgm:spPr/>
      <dgm:t>
        <a:bodyPr/>
        <a:lstStyle/>
        <a:p>
          <a:endParaRPr lang="en-US"/>
        </a:p>
      </dgm:t>
    </dgm:pt>
    <dgm:pt modelId="{6E63E94D-F0D4-EE44-96BF-E0D98C3900A0}" type="pres">
      <dgm:prSet presAssocID="{644C9172-0E81-4678-9B91-055C7464BB92}" presName="linear" presStyleCnt="0">
        <dgm:presLayoutVars>
          <dgm:animLvl val="lvl"/>
          <dgm:resizeHandles val="exact"/>
        </dgm:presLayoutVars>
      </dgm:prSet>
      <dgm:spPr/>
    </dgm:pt>
    <dgm:pt modelId="{268A68A4-B3DB-534A-BFE2-9B6147D2C85E}" type="pres">
      <dgm:prSet presAssocID="{778D1DB1-86A4-4218-808C-64A78EE467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92F9C13-74A1-9349-959D-5C47AE846834}" type="pres">
      <dgm:prSet presAssocID="{778D1DB1-86A4-4218-808C-64A78EE46764}" presName="childText" presStyleLbl="revTx" presStyleIdx="0" presStyleCnt="2">
        <dgm:presLayoutVars>
          <dgm:bulletEnabled val="1"/>
        </dgm:presLayoutVars>
      </dgm:prSet>
      <dgm:spPr/>
    </dgm:pt>
    <dgm:pt modelId="{CB27C405-498B-9E41-9AA2-52D385183659}" type="pres">
      <dgm:prSet presAssocID="{F5C0EBCF-81A2-4570-A65A-05F449F94A8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AEEFC98-3911-F248-97E9-8EEA327C0E5C}" type="pres">
      <dgm:prSet presAssocID="{F5C0EBCF-81A2-4570-A65A-05F449F94A8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54CF70C-B6B3-4FD7-9BE4-C8EF7839AF53}" srcId="{F5C0EBCF-81A2-4570-A65A-05F449F94A8D}" destId="{7D8F64A0-6AB0-40F3-BE80-E9BE67F93384}" srcOrd="0" destOrd="0" parTransId="{D9163390-61C2-41F0-85DB-4CA13854411B}" sibTransId="{44DB0385-8006-48F4-B1E6-E5CFA32E4B2C}"/>
    <dgm:cxn modelId="{74EB082A-BC4B-624E-ACA1-562E45CADE3C}" type="presOf" srcId="{484D3BE3-219B-409B-99F7-30B5FA3F0631}" destId="{1AEEFC98-3911-F248-97E9-8EEA327C0E5C}" srcOrd="0" destOrd="1" presId="urn:microsoft.com/office/officeart/2005/8/layout/vList2"/>
    <dgm:cxn modelId="{6120672E-F168-466E-B494-6787EA7C6B5B}" srcId="{F5C0EBCF-81A2-4570-A65A-05F449F94A8D}" destId="{484D3BE3-219B-409B-99F7-30B5FA3F0631}" srcOrd="1" destOrd="0" parTransId="{55774457-5306-4403-97DB-00817CAE323A}" sibTransId="{BAD3C99C-77B9-46AA-902A-47987FDB96A0}"/>
    <dgm:cxn modelId="{1803B73C-ED18-46B7-BFB7-F09CBB7B1BB0}" srcId="{644C9172-0E81-4678-9B91-055C7464BB92}" destId="{778D1DB1-86A4-4218-808C-64A78EE46764}" srcOrd="0" destOrd="0" parTransId="{F49817F7-1EAF-4020-910A-0444F478E1B5}" sibTransId="{4A11CDE9-B93A-4B12-9899-52BF792915EE}"/>
    <dgm:cxn modelId="{141F6A48-F229-4448-8247-3D8D490CCB27}" type="presOf" srcId="{BB145F10-7991-4A91-8A48-0148188B34E6}" destId="{1AEEFC98-3911-F248-97E9-8EEA327C0E5C}" srcOrd="0" destOrd="2" presId="urn:microsoft.com/office/officeart/2005/8/layout/vList2"/>
    <dgm:cxn modelId="{DD913162-DF4C-C648-9B2E-C6218E38D597}" type="presOf" srcId="{46795DF5-B9B9-47D9-9DE2-B1304003DBAC}" destId="{1AEEFC98-3911-F248-97E9-8EEA327C0E5C}" srcOrd="0" destOrd="3" presId="urn:microsoft.com/office/officeart/2005/8/layout/vList2"/>
    <dgm:cxn modelId="{9EFF4D6A-F11D-7E40-BA76-8817DCD829A4}" type="presOf" srcId="{9DD90F1D-66B2-43BE-8AE0-78EDCB2D74F6}" destId="{692F9C13-74A1-9349-959D-5C47AE846834}" srcOrd="0" destOrd="1" presId="urn:microsoft.com/office/officeart/2005/8/layout/vList2"/>
    <dgm:cxn modelId="{40E36A80-A3FA-5E47-A00A-C1CC125CE1FC}" type="presOf" srcId="{62F8DDC0-A608-48BF-8954-25CE1BBFB971}" destId="{692F9C13-74A1-9349-959D-5C47AE846834}" srcOrd="0" destOrd="0" presId="urn:microsoft.com/office/officeart/2005/8/layout/vList2"/>
    <dgm:cxn modelId="{2A63DCA0-E2CB-6545-AEF7-EA3423E2443C}" type="presOf" srcId="{7D8F64A0-6AB0-40F3-BE80-E9BE67F93384}" destId="{1AEEFC98-3911-F248-97E9-8EEA327C0E5C}" srcOrd="0" destOrd="0" presId="urn:microsoft.com/office/officeart/2005/8/layout/vList2"/>
    <dgm:cxn modelId="{F44A8CB0-2D29-4EA5-9161-E7CA5C9FC8A8}" srcId="{644C9172-0E81-4678-9B91-055C7464BB92}" destId="{F5C0EBCF-81A2-4570-A65A-05F449F94A8D}" srcOrd="1" destOrd="0" parTransId="{ADA6A3CC-BA6D-4F0F-9239-71AA7664F2DB}" sibTransId="{AF158004-2AA7-4FA3-8A2E-C9D020B475E5}"/>
    <dgm:cxn modelId="{282562B3-2D38-4A4E-BADB-FE9163AD4EB0}" srcId="{F5C0EBCF-81A2-4570-A65A-05F449F94A8D}" destId="{46795DF5-B9B9-47D9-9DE2-B1304003DBAC}" srcOrd="3" destOrd="0" parTransId="{4B2B70D2-C9A2-4C0A-94D6-3453ADBFB903}" sibTransId="{B844A1AF-0D4A-4339-AFE4-F08DF9CBEC55}"/>
    <dgm:cxn modelId="{FAFE89B7-1A02-A24E-8BFE-7D425C4AEF59}" type="presOf" srcId="{778D1DB1-86A4-4218-808C-64A78EE46764}" destId="{268A68A4-B3DB-534A-BFE2-9B6147D2C85E}" srcOrd="0" destOrd="0" presId="urn:microsoft.com/office/officeart/2005/8/layout/vList2"/>
    <dgm:cxn modelId="{6C3B5DBD-E812-455A-91AA-AE57AD7FA68F}" srcId="{778D1DB1-86A4-4218-808C-64A78EE46764}" destId="{9DD90F1D-66B2-43BE-8AE0-78EDCB2D74F6}" srcOrd="1" destOrd="0" parTransId="{73F39D5B-82F3-497D-83F5-BF6D355EFC0E}" sibTransId="{540C4A8D-841D-4F4E-82EF-71FD3AA0B908}"/>
    <dgm:cxn modelId="{F6500FE3-CBEB-2843-9799-00658A63943B}" type="presOf" srcId="{644C9172-0E81-4678-9B91-055C7464BB92}" destId="{6E63E94D-F0D4-EE44-96BF-E0D98C3900A0}" srcOrd="0" destOrd="0" presId="urn:microsoft.com/office/officeart/2005/8/layout/vList2"/>
    <dgm:cxn modelId="{CB5865EC-9E9D-419C-A65F-144E6E31ED05}" srcId="{F5C0EBCF-81A2-4570-A65A-05F449F94A8D}" destId="{BB145F10-7991-4A91-8A48-0148188B34E6}" srcOrd="2" destOrd="0" parTransId="{772F5AB8-E42E-442C-BE96-9F7A1DF9353B}" sibTransId="{EBD770E8-F4EC-4528-8B72-FD4B00AD624F}"/>
    <dgm:cxn modelId="{86B848ED-D529-D749-83D8-91EDC0160902}" type="presOf" srcId="{F5C0EBCF-81A2-4570-A65A-05F449F94A8D}" destId="{CB27C405-498B-9E41-9AA2-52D385183659}" srcOrd="0" destOrd="0" presId="urn:microsoft.com/office/officeart/2005/8/layout/vList2"/>
    <dgm:cxn modelId="{C78E11F8-0F1E-4231-8F6C-ED4FA8E8257C}" srcId="{778D1DB1-86A4-4218-808C-64A78EE46764}" destId="{62F8DDC0-A608-48BF-8954-25CE1BBFB971}" srcOrd="0" destOrd="0" parTransId="{C0275CA2-EEF7-4895-9649-149806AC20E8}" sibTransId="{93DDEAC6-36F7-4949-B1C3-57BF03F2F053}"/>
    <dgm:cxn modelId="{282C3E35-0D65-8E40-8D05-A8B80374ED6A}" type="presParOf" srcId="{6E63E94D-F0D4-EE44-96BF-E0D98C3900A0}" destId="{268A68A4-B3DB-534A-BFE2-9B6147D2C85E}" srcOrd="0" destOrd="0" presId="urn:microsoft.com/office/officeart/2005/8/layout/vList2"/>
    <dgm:cxn modelId="{752A2811-5DCA-904D-AF66-2A932DD54E6E}" type="presParOf" srcId="{6E63E94D-F0D4-EE44-96BF-E0D98C3900A0}" destId="{692F9C13-74A1-9349-959D-5C47AE846834}" srcOrd="1" destOrd="0" presId="urn:microsoft.com/office/officeart/2005/8/layout/vList2"/>
    <dgm:cxn modelId="{E4B49D55-62BB-9946-99E9-81AAD4FB84CD}" type="presParOf" srcId="{6E63E94D-F0D4-EE44-96BF-E0D98C3900A0}" destId="{CB27C405-498B-9E41-9AA2-52D385183659}" srcOrd="2" destOrd="0" presId="urn:microsoft.com/office/officeart/2005/8/layout/vList2"/>
    <dgm:cxn modelId="{6BC63617-43BC-464B-B8C1-23BE5D37E184}" type="presParOf" srcId="{6E63E94D-F0D4-EE44-96BF-E0D98C3900A0}" destId="{1AEEFC98-3911-F248-97E9-8EEA327C0E5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A89A68-2B93-4199-A0E9-F39167514A1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98B049-31F1-489A-A235-E23662913838}">
      <dgm:prSet/>
      <dgm:spPr/>
      <dgm:t>
        <a:bodyPr/>
        <a:lstStyle/>
        <a:p>
          <a:r>
            <a:rPr lang="en-US" b="1"/>
            <a:t>Cele modułu</a:t>
          </a:r>
          <a:endParaRPr lang="en-US"/>
        </a:p>
      </dgm:t>
    </dgm:pt>
    <dgm:pt modelId="{2266520F-EA3A-4896-89F9-5A7013544AC7}" type="parTrans" cxnId="{DA73EF25-5858-4087-83A7-DCE14276C3F4}">
      <dgm:prSet/>
      <dgm:spPr/>
      <dgm:t>
        <a:bodyPr/>
        <a:lstStyle/>
        <a:p>
          <a:endParaRPr lang="en-US"/>
        </a:p>
      </dgm:t>
    </dgm:pt>
    <dgm:pt modelId="{CE5E5EEB-14BD-41C2-9B19-47E3ED5F602B}" type="sibTrans" cxnId="{DA73EF25-5858-4087-83A7-DCE14276C3F4}">
      <dgm:prSet/>
      <dgm:spPr/>
      <dgm:t>
        <a:bodyPr/>
        <a:lstStyle/>
        <a:p>
          <a:endParaRPr lang="en-US"/>
        </a:p>
      </dgm:t>
    </dgm:pt>
    <dgm:pt modelId="{E1AD180B-6E6C-4CF2-8DD4-8B98564CF1AF}">
      <dgm:prSet/>
      <dgm:spPr/>
      <dgm:t>
        <a:bodyPr/>
        <a:lstStyle/>
        <a:p>
          <a:r>
            <a:rPr lang="pl-PL"/>
            <a:t>Orkiestracja wielu kontenerów lokalnie</a:t>
          </a:r>
          <a:endParaRPr lang="en-US"/>
        </a:p>
      </dgm:t>
    </dgm:pt>
    <dgm:pt modelId="{AF745C2B-EE15-44B8-A373-C2A7BA375161}" type="parTrans" cxnId="{B9C87E31-BC60-4CDB-A71D-64CB73251102}">
      <dgm:prSet/>
      <dgm:spPr/>
      <dgm:t>
        <a:bodyPr/>
        <a:lstStyle/>
        <a:p>
          <a:endParaRPr lang="en-US"/>
        </a:p>
      </dgm:t>
    </dgm:pt>
    <dgm:pt modelId="{8808F774-C4CF-4AC5-A6DF-14EADC55DFC0}" type="sibTrans" cxnId="{B9C87E31-BC60-4CDB-A71D-64CB73251102}">
      <dgm:prSet/>
      <dgm:spPr/>
      <dgm:t>
        <a:bodyPr/>
        <a:lstStyle/>
        <a:p>
          <a:endParaRPr lang="en-US"/>
        </a:p>
      </dgm:t>
    </dgm:pt>
    <dgm:pt modelId="{1122152D-3026-4D97-9C9D-F424FC6956F1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0ACAD2D5-652D-470A-B91E-9F771EF8B106}" type="parTrans" cxnId="{7DF92FE2-7B39-44DF-9BD8-1BC41EAB73D8}">
      <dgm:prSet/>
      <dgm:spPr/>
      <dgm:t>
        <a:bodyPr/>
        <a:lstStyle/>
        <a:p>
          <a:endParaRPr lang="en-US"/>
        </a:p>
      </dgm:t>
    </dgm:pt>
    <dgm:pt modelId="{E3ABA849-5B80-4AD9-B3D5-D86C95B3AE82}" type="sibTrans" cxnId="{7DF92FE2-7B39-44DF-9BD8-1BC41EAB73D8}">
      <dgm:prSet/>
      <dgm:spPr/>
      <dgm:t>
        <a:bodyPr/>
        <a:lstStyle/>
        <a:p>
          <a:endParaRPr lang="en-US"/>
        </a:p>
      </dgm:t>
    </dgm:pt>
    <dgm:pt modelId="{E9DF99F8-AC7B-4B57-9A2D-53A0C8633F64}">
      <dgm:prSet/>
      <dgm:spPr/>
      <dgm:t>
        <a:bodyPr/>
        <a:lstStyle/>
        <a:p>
          <a:r>
            <a:rPr lang="en-US"/>
            <a:t>docker-compose.yml: services, volumes, networks</a:t>
          </a:r>
        </a:p>
      </dgm:t>
    </dgm:pt>
    <dgm:pt modelId="{88C1C684-136B-4019-86A8-A0DA6CC5439B}" type="parTrans" cxnId="{0E1586A9-1D5B-4EFC-8123-2214C61040B5}">
      <dgm:prSet/>
      <dgm:spPr/>
      <dgm:t>
        <a:bodyPr/>
        <a:lstStyle/>
        <a:p>
          <a:endParaRPr lang="en-US"/>
        </a:p>
      </dgm:t>
    </dgm:pt>
    <dgm:pt modelId="{004257F0-14BA-4482-806F-6F2FFA2DC2FB}" type="sibTrans" cxnId="{0E1586A9-1D5B-4EFC-8123-2214C61040B5}">
      <dgm:prSet/>
      <dgm:spPr/>
      <dgm:t>
        <a:bodyPr/>
        <a:lstStyle/>
        <a:p>
          <a:endParaRPr lang="en-US"/>
        </a:p>
      </dgm:t>
    </dgm:pt>
    <dgm:pt modelId="{2EFB482F-F2E9-4888-A5FB-E602DBC1F7AA}">
      <dgm:prSet/>
      <dgm:spPr/>
      <dgm:t>
        <a:bodyPr/>
        <a:lstStyle/>
        <a:p>
          <a:r>
            <a:rPr lang="en-US"/>
            <a:t>Komendy: compose up, down, logs, exec</a:t>
          </a:r>
        </a:p>
      </dgm:t>
    </dgm:pt>
    <dgm:pt modelId="{B574CA0E-841C-4208-BEB4-92D2E123A52E}" type="parTrans" cxnId="{4B8447C7-B8D0-4986-99C6-DC31364CC4FD}">
      <dgm:prSet/>
      <dgm:spPr/>
      <dgm:t>
        <a:bodyPr/>
        <a:lstStyle/>
        <a:p>
          <a:endParaRPr lang="en-US"/>
        </a:p>
      </dgm:t>
    </dgm:pt>
    <dgm:pt modelId="{68162249-9D32-41DA-9C00-AC4C0A78288B}" type="sibTrans" cxnId="{4B8447C7-B8D0-4986-99C6-DC31364CC4FD}">
      <dgm:prSet/>
      <dgm:spPr/>
      <dgm:t>
        <a:bodyPr/>
        <a:lstStyle/>
        <a:p>
          <a:endParaRPr lang="en-US"/>
        </a:p>
      </dgm:t>
    </dgm:pt>
    <dgm:pt modelId="{6DD13F8A-48BF-4D5A-A245-E31B57624D35}">
      <dgm:prSet/>
      <dgm:spPr/>
      <dgm:t>
        <a:bodyPr/>
        <a:lstStyle/>
        <a:p>
          <a:r>
            <a:rPr lang="pl-PL"/>
            <a:t>Linking kontenerów</a:t>
          </a:r>
          <a:endParaRPr lang="en-US"/>
        </a:p>
      </dgm:t>
    </dgm:pt>
    <dgm:pt modelId="{816E28C4-23CE-4AA8-A0F1-7921F780D587}" type="parTrans" cxnId="{FF82F444-65DE-48B2-B80B-56B1A52660FB}">
      <dgm:prSet/>
      <dgm:spPr/>
      <dgm:t>
        <a:bodyPr/>
        <a:lstStyle/>
        <a:p>
          <a:endParaRPr lang="en-US"/>
        </a:p>
      </dgm:t>
    </dgm:pt>
    <dgm:pt modelId="{80CB04DF-C9A8-4543-B7A7-2026328C01C3}" type="sibTrans" cxnId="{FF82F444-65DE-48B2-B80B-56B1A52660FB}">
      <dgm:prSet/>
      <dgm:spPr/>
      <dgm:t>
        <a:bodyPr/>
        <a:lstStyle/>
        <a:p>
          <a:endParaRPr lang="en-US"/>
        </a:p>
      </dgm:t>
    </dgm:pt>
    <dgm:pt modelId="{615DE1C7-A5CE-4C06-B089-5B8150C038D2}">
      <dgm:prSet/>
      <dgm:spPr/>
      <dgm:t>
        <a:bodyPr/>
        <a:lstStyle/>
        <a:p>
          <a:r>
            <a:rPr lang="pl-PL"/>
            <a:t>LAB: Aplikacja multi-tier (web + database)</a:t>
          </a:r>
          <a:endParaRPr lang="en-US"/>
        </a:p>
      </dgm:t>
    </dgm:pt>
    <dgm:pt modelId="{1D87E6FC-712C-4F84-83FB-28411035E1A7}" type="parTrans" cxnId="{CA0604DE-8E7E-4299-8158-B7449982394B}">
      <dgm:prSet/>
      <dgm:spPr/>
      <dgm:t>
        <a:bodyPr/>
        <a:lstStyle/>
        <a:p>
          <a:endParaRPr lang="en-US"/>
        </a:p>
      </dgm:t>
    </dgm:pt>
    <dgm:pt modelId="{4C4B8D7B-68E9-41E2-AD55-AEE87D94C302}" type="sibTrans" cxnId="{CA0604DE-8E7E-4299-8158-B7449982394B}">
      <dgm:prSet/>
      <dgm:spPr/>
      <dgm:t>
        <a:bodyPr/>
        <a:lstStyle/>
        <a:p>
          <a:endParaRPr lang="en-US"/>
        </a:p>
      </dgm:t>
    </dgm:pt>
    <dgm:pt modelId="{47428047-2DC7-F74E-A429-1FD2D6FD77FA}" type="pres">
      <dgm:prSet presAssocID="{9AA89A68-2B93-4199-A0E9-F39167514A16}" presName="linear" presStyleCnt="0">
        <dgm:presLayoutVars>
          <dgm:animLvl val="lvl"/>
          <dgm:resizeHandles val="exact"/>
        </dgm:presLayoutVars>
      </dgm:prSet>
      <dgm:spPr/>
    </dgm:pt>
    <dgm:pt modelId="{0C74DBBE-833B-694B-BFF8-0608C17BD5C7}" type="pres">
      <dgm:prSet presAssocID="{A198B049-31F1-489A-A235-E236629138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E6417F-DB76-8E4C-9CA3-15DF798E9D29}" type="pres">
      <dgm:prSet presAssocID="{A198B049-31F1-489A-A235-E23662913838}" presName="childText" presStyleLbl="revTx" presStyleIdx="0" presStyleCnt="2">
        <dgm:presLayoutVars>
          <dgm:bulletEnabled val="1"/>
        </dgm:presLayoutVars>
      </dgm:prSet>
      <dgm:spPr/>
    </dgm:pt>
    <dgm:pt modelId="{B1FC3CC5-B828-3140-ADE1-9317C6B3B000}" type="pres">
      <dgm:prSet presAssocID="{1122152D-3026-4D97-9C9D-F424FC6956F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BF8163-418E-0144-AFC3-64FAB120FED8}" type="pres">
      <dgm:prSet presAssocID="{1122152D-3026-4D97-9C9D-F424FC6956F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73EF25-5858-4087-83A7-DCE14276C3F4}" srcId="{9AA89A68-2B93-4199-A0E9-F39167514A16}" destId="{A198B049-31F1-489A-A235-E23662913838}" srcOrd="0" destOrd="0" parTransId="{2266520F-EA3A-4896-89F9-5A7013544AC7}" sibTransId="{CE5E5EEB-14BD-41C2-9B19-47E3ED5F602B}"/>
    <dgm:cxn modelId="{B9C87E31-BC60-4CDB-A71D-64CB73251102}" srcId="{A198B049-31F1-489A-A235-E23662913838}" destId="{E1AD180B-6E6C-4CF2-8DD4-8B98564CF1AF}" srcOrd="0" destOrd="0" parTransId="{AF745C2B-EE15-44B8-A373-C2A7BA375161}" sibTransId="{8808F774-C4CF-4AC5-A6DF-14EADC55DFC0}"/>
    <dgm:cxn modelId="{FF82F444-65DE-48B2-B80B-56B1A52660FB}" srcId="{1122152D-3026-4D97-9C9D-F424FC6956F1}" destId="{6DD13F8A-48BF-4D5A-A245-E31B57624D35}" srcOrd="2" destOrd="0" parTransId="{816E28C4-23CE-4AA8-A0F1-7921F780D587}" sibTransId="{80CB04DF-C9A8-4543-B7A7-2026328C01C3}"/>
    <dgm:cxn modelId="{4390095A-2779-434B-9E3F-4ABD3CDC1650}" type="presOf" srcId="{615DE1C7-A5CE-4C06-B089-5B8150C038D2}" destId="{02BF8163-418E-0144-AFC3-64FAB120FED8}" srcOrd="0" destOrd="3" presId="urn:microsoft.com/office/officeart/2005/8/layout/vList2"/>
    <dgm:cxn modelId="{A3B98A5E-3D1A-754C-B150-813848111E79}" type="presOf" srcId="{E1AD180B-6E6C-4CF2-8DD4-8B98564CF1AF}" destId="{7FE6417F-DB76-8E4C-9CA3-15DF798E9D29}" srcOrd="0" destOrd="0" presId="urn:microsoft.com/office/officeart/2005/8/layout/vList2"/>
    <dgm:cxn modelId="{C7B67F63-D3D9-554B-ADDC-D8F05C3F2CB2}" type="presOf" srcId="{9AA89A68-2B93-4199-A0E9-F39167514A16}" destId="{47428047-2DC7-F74E-A429-1FD2D6FD77FA}" srcOrd="0" destOrd="0" presId="urn:microsoft.com/office/officeart/2005/8/layout/vList2"/>
    <dgm:cxn modelId="{27AC5A6E-5275-004D-BC74-A4D0AC100AAF}" type="presOf" srcId="{E9DF99F8-AC7B-4B57-9A2D-53A0C8633F64}" destId="{02BF8163-418E-0144-AFC3-64FAB120FED8}" srcOrd="0" destOrd="0" presId="urn:microsoft.com/office/officeart/2005/8/layout/vList2"/>
    <dgm:cxn modelId="{AEA8E27C-5915-C747-8E1C-E454ABF0EBC7}" type="presOf" srcId="{A198B049-31F1-489A-A235-E23662913838}" destId="{0C74DBBE-833B-694B-BFF8-0608C17BD5C7}" srcOrd="0" destOrd="0" presId="urn:microsoft.com/office/officeart/2005/8/layout/vList2"/>
    <dgm:cxn modelId="{0E1586A9-1D5B-4EFC-8123-2214C61040B5}" srcId="{1122152D-3026-4D97-9C9D-F424FC6956F1}" destId="{E9DF99F8-AC7B-4B57-9A2D-53A0C8633F64}" srcOrd="0" destOrd="0" parTransId="{88C1C684-136B-4019-86A8-A0DA6CC5439B}" sibTransId="{004257F0-14BA-4482-806F-6F2FFA2DC2FB}"/>
    <dgm:cxn modelId="{F39787AA-A5F0-B843-B4F0-BAB9505F3985}" type="presOf" srcId="{2EFB482F-F2E9-4888-A5FB-E602DBC1F7AA}" destId="{02BF8163-418E-0144-AFC3-64FAB120FED8}" srcOrd="0" destOrd="1" presId="urn:microsoft.com/office/officeart/2005/8/layout/vList2"/>
    <dgm:cxn modelId="{2402A1C1-DC6A-3842-9D0F-16D7A5CF8F27}" type="presOf" srcId="{1122152D-3026-4D97-9C9D-F424FC6956F1}" destId="{B1FC3CC5-B828-3140-ADE1-9317C6B3B000}" srcOrd="0" destOrd="0" presId="urn:microsoft.com/office/officeart/2005/8/layout/vList2"/>
    <dgm:cxn modelId="{4B8447C7-B8D0-4986-99C6-DC31364CC4FD}" srcId="{1122152D-3026-4D97-9C9D-F424FC6956F1}" destId="{2EFB482F-F2E9-4888-A5FB-E602DBC1F7AA}" srcOrd="1" destOrd="0" parTransId="{B574CA0E-841C-4208-BEB4-92D2E123A52E}" sibTransId="{68162249-9D32-41DA-9C00-AC4C0A78288B}"/>
    <dgm:cxn modelId="{95E7C5D7-376C-B842-A622-BB2A69397C9D}" type="presOf" srcId="{6DD13F8A-48BF-4D5A-A245-E31B57624D35}" destId="{02BF8163-418E-0144-AFC3-64FAB120FED8}" srcOrd="0" destOrd="2" presId="urn:microsoft.com/office/officeart/2005/8/layout/vList2"/>
    <dgm:cxn modelId="{CA0604DE-8E7E-4299-8158-B7449982394B}" srcId="{1122152D-3026-4D97-9C9D-F424FC6956F1}" destId="{615DE1C7-A5CE-4C06-B089-5B8150C038D2}" srcOrd="3" destOrd="0" parTransId="{1D87E6FC-712C-4F84-83FB-28411035E1A7}" sibTransId="{4C4B8D7B-68E9-41E2-AD55-AEE87D94C302}"/>
    <dgm:cxn modelId="{7DF92FE2-7B39-44DF-9BD8-1BC41EAB73D8}" srcId="{9AA89A68-2B93-4199-A0E9-F39167514A16}" destId="{1122152D-3026-4D97-9C9D-F424FC6956F1}" srcOrd="1" destOrd="0" parTransId="{0ACAD2D5-652D-470A-B91E-9F771EF8B106}" sibTransId="{E3ABA849-5B80-4AD9-B3D5-D86C95B3AE82}"/>
    <dgm:cxn modelId="{AC8ADED7-1F46-0C4B-9270-EAE834DA13C9}" type="presParOf" srcId="{47428047-2DC7-F74E-A429-1FD2D6FD77FA}" destId="{0C74DBBE-833B-694B-BFF8-0608C17BD5C7}" srcOrd="0" destOrd="0" presId="urn:microsoft.com/office/officeart/2005/8/layout/vList2"/>
    <dgm:cxn modelId="{6C8F934C-87E3-E44A-A50E-CAC9BD50F162}" type="presParOf" srcId="{47428047-2DC7-F74E-A429-1FD2D6FD77FA}" destId="{7FE6417F-DB76-8E4C-9CA3-15DF798E9D29}" srcOrd="1" destOrd="0" presId="urn:microsoft.com/office/officeart/2005/8/layout/vList2"/>
    <dgm:cxn modelId="{1954A4B9-BE02-5547-8DA6-FB371BA6BE42}" type="presParOf" srcId="{47428047-2DC7-F74E-A429-1FD2D6FD77FA}" destId="{B1FC3CC5-B828-3140-ADE1-9317C6B3B000}" srcOrd="2" destOrd="0" presId="urn:microsoft.com/office/officeart/2005/8/layout/vList2"/>
    <dgm:cxn modelId="{F68603EE-D6F8-E340-AE27-9528E8CDBF54}" type="presParOf" srcId="{47428047-2DC7-F74E-A429-1FD2D6FD77FA}" destId="{02BF8163-418E-0144-AFC3-64FAB120FED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B3E451-8405-4935-AA9D-1B17F592CF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973975-81DB-4E96-A52F-B65571F9E918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BCEA67E1-CF10-4E7D-87B6-A4A2D313B3A2}" type="parTrans" cxnId="{7BCDB590-92F5-4E9A-97E9-7E51720573AC}">
      <dgm:prSet/>
      <dgm:spPr/>
      <dgm:t>
        <a:bodyPr/>
        <a:lstStyle/>
        <a:p>
          <a:endParaRPr lang="en-US"/>
        </a:p>
      </dgm:t>
    </dgm:pt>
    <dgm:pt modelId="{9834B8BF-9BB3-4203-BA4A-F84C48E33C1F}" type="sibTrans" cxnId="{7BCDB590-92F5-4E9A-97E9-7E51720573AC}">
      <dgm:prSet/>
      <dgm:spPr/>
      <dgm:t>
        <a:bodyPr/>
        <a:lstStyle/>
        <a:p>
          <a:endParaRPr lang="en-US"/>
        </a:p>
      </dgm:t>
    </dgm:pt>
    <dgm:pt modelId="{D13E7789-167C-4FED-BFE9-882FA2BE383F}">
      <dgm:prSet/>
      <dgm:spPr/>
      <dgm:t>
        <a:bodyPr/>
        <a:lstStyle/>
        <a:p>
          <a:r>
            <a:rPr lang="pl-PL"/>
            <a:t>Strategie testowania kontenery</a:t>
          </a:r>
          <a:endParaRPr lang="en-US"/>
        </a:p>
      </dgm:t>
    </dgm:pt>
    <dgm:pt modelId="{99E8C68C-61C3-4C54-970D-1D71CF2B924D}" type="parTrans" cxnId="{31857CC3-210F-42D9-9908-2AAFABE7FB98}">
      <dgm:prSet/>
      <dgm:spPr/>
      <dgm:t>
        <a:bodyPr/>
        <a:lstStyle/>
        <a:p>
          <a:endParaRPr lang="en-US"/>
        </a:p>
      </dgm:t>
    </dgm:pt>
    <dgm:pt modelId="{B14DB8BB-2108-432D-9028-A2DAC446366F}" type="sibTrans" cxnId="{31857CC3-210F-42D9-9908-2AAFABE7FB98}">
      <dgm:prSet/>
      <dgm:spPr/>
      <dgm:t>
        <a:bodyPr/>
        <a:lstStyle/>
        <a:p>
          <a:endParaRPr lang="en-US"/>
        </a:p>
      </dgm:t>
    </dgm:pt>
    <dgm:pt modelId="{7B6C2E24-7971-4362-A3F4-5110B7BFC7CA}">
      <dgm:prSet/>
      <dgm:spPr/>
      <dgm:t>
        <a:bodyPr/>
        <a:lstStyle/>
        <a:p>
          <a:r>
            <a:rPr lang="pl-PL"/>
            <a:t>Health checks i diagnostyka</a:t>
          </a:r>
          <a:endParaRPr lang="en-US"/>
        </a:p>
      </dgm:t>
    </dgm:pt>
    <dgm:pt modelId="{3C1F5911-5AEF-424E-B7D6-02512F978187}" type="parTrans" cxnId="{044DDEE3-0522-4156-940C-88677E4A439E}">
      <dgm:prSet/>
      <dgm:spPr/>
      <dgm:t>
        <a:bodyPr/>
        <a:lstStyle/>
        <a:p>
          <a:endParaRPr lang="en-US"/>
        </a:p>
      </dgm:t>
    </dgm:pt>
    <dgm:pt modelId="{0E0E2D5F-48DA-4933-B367-E99A40444850}" type="sibTrans" cxnId="{044DDEE3-0522-4156-940C-88677E4A439E}">
      <dgm:prSet/>
      <dgm:spPr/>
      <dgm:t>
        <a:bodyPr/>
        <a:lstStyle/>
        <a:p>
          <a:endParaRPr lang="en-US"/>
        </a:p>
      </dgm:t>
    </dgm:pt>
    <dgm:pt modelId="{2A929355-62C4-4E6B-AF6C-D2EDDC264EBC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2E179169-10D4-4900-A642-0B47FD859438}" type="parTrans" cxnId="{008359C6-C232-4910-9587-1ADE38900D44}">
      <dgm:prSet/>
      <dgm:spPr/>
      <dgm:t>
        <a:bodyPr/>
        <a:lstStyle/>
        <a:p>
          <a:endParaRPr lang="en-US"/>
        </a:p>
      </dgm:t>
    </dgm:pt>
    <dgm:pt modelId="{3D534D64-276F-4527-BA50-6A6E5A180E46}" type="sibTrans" cxnId="{008359C6-C232-4910-9587-1ADE38900D44}">
      <dgm:prSet/>
      <dgm:spPr/>
      <dgm:t>
        <a:bodyPr/>
        <a:lstStyle/>
        <a:p>
          <a:endParaRPr lang="en-US"/>
        </a:p>
      </dgm:t>
    </dgm:pt>
    <dgm:pt modelId="{77DDBEE5-25F0-4EE1-9F13-8B5AE91F510A}">
      <dgm:prSet/>
      <dgm:spPr/>
      <dgm:t>
        <a:bodyPr/>
        <a:lstStyle/>
        <a:p>
          <a:r>
            <a:rPr lang="pl-PL"/>
            <a:t>Unit testy w Docker</a:t>
          </a:r>
          <a:endParaRPr lang="en-US"/>
        </a:p>
      </dgm:t>
    </dgm:pt>
    <dgm:pt modelId="{411A9173-1996-4941-9D50-8AFAB6FC3C1A}" type="parTrans" cxnId="{690441DC-F826-4029-BCFA-85E9642D8CD1}">
      <dgm:prSet/>
      <dgm:spPr/>
      <dgm:t>
        <a:bodyPr/>
        <a:lstStyle/>
        <a:p>
          <a:endParaRPr lang="en-US"/>
        </a:p>
      </dgm:t>
    </dgm:pt>
    <dgm:pt modelId="{FEA7120E-E035-4CAD-9614-98DAA647210D}" type="sibTrans" cxnId="{690441DC-F826-4029-BCFA-85E9642D8CD1}">
      <dgm:prSet/>
      <dgm:spPr/>
      <dgm:t>
        <a:bodyPr/>
        <a:lstStyle/>
        <a:p>
          <a:endParaRPr lang="en-US"/>
        </a:p>
      </dgm:t>
    </dgm:pt>
    <dgm:pt modelId="{ACF5CEA7-EAFE-4903-A681-BEC673957C0E}">
      <dgm:prSet/>
      <dgm:spPr/>
      <dgm:t>
        <a:bodyPr/>
        <a:lstStyle/>
        <a:p>
          <a:r>
            <a:rPr lang="pl-PL"/>
            <a:t>Integration testy dla kontenerów</a:t>
          </a:r>
          <a:endParaRPr lang="en-US"/>
        </a:p>
      </dgm:t>
    </dgm:pt>
    <dgm:pt modelId="{76677207-3E5A-42F2-B0E2-2F0D8E7B584C}" type="parTrans" cxnId="{33D0A558-A320-40F3-940D-552E864402B8}">
      <dgm:prSet/>
      <dgm:spPr/>
      <dgm:t>
        <a:bodyPr/>
        <a:lstStyle/>
        <a:p>
          <a:endParaRPr lang="en-US"/>
        </a:p>
      </dgm:t>
    </dgm:pt>
    <dgm:pt modelId="{45850F84-88B3-4E81-8FE5-6C6E0A500EDE}" type="sibTrans" cxnId="{33D0A558-A320-40F3-940D-552E864402B8}">
      <dgm:prSet/>
      <dgm:spPr/>
      <dgm:t>
        <a:bodyPr/>
        <a:lstStyle/>
        <a:p>
          <a:endParaRPr lang="en-US"/>
        </a:p>
      </dgm:t>
    </dgm:pt>
    <dgm:pt modelId="{F3C39CF4-DEB3-49C1-808A-4A424AA10DE9}">
      <dgm:prSet/>
      <dgm:spPr/>
      <dgm:t>
        <a:bodyPr/>
        <a:lstStyle/>
        <a:p>
          <a:r>
            <a:rPr lang="pl-PL"/>
            <a:t>Health checks: CMD, HTTP, TCP</a:t>
          </a:r>
          <a:endParaRPr lang="en-US"/>
        </a:p>
      </dgm:t>
    </dgm:pt>
    <dgm:pt modelId="{D8ADB018-6DC5-4843-B020-924034E3DF25}" type="parTrans" cxnId="{7016D563-240F-4059-90A2-E12C2FFE5991}">
      <dgm:prSet/>
      <dgm:spPr/>
      <dgm:t>
        <a:bodyPr/>
        <a:lstStyle/>
        <a:p>
          <a:endParaRPr lang="en-US"/>
        </a:p>
      </dgm:t>
    </dgm:pt>
    <dgm:pt modelId="{A99018C4-9A1C-456F-8529-1D24348F550C}" type="sibTrans" cxnId="{7016D563-240F-4059-90A2-E12C2FFE5991}">
      <dgm:prSet/>
      <dgm:spPr/>
      <dgm:t>
        <a:bodyPr/>
        <a:lstStyle/>
        <a:p>
          <a:endParaRPr lang="en-US"/>
        </a:p>
      </dgm:t>
    </dgm:pt>
    <dgm:pt modelId="{5631F791-52D7-488C-A873-2D686EF45C46}">
      <dgm:prSet/>
      <dgm:spPr/>
      <dgm:t>
        <a:bodyPr/>
        <a:lstStyle/>
        <a:p>
          <a:r>
            <a:rPr lang="pl-PL"/>
            <a:t>Monitorowanie logów i metryki</a:t>
          </a:r>
          <a:endParaRPr lang="en-US"/>
        </a:p>
      </dgm:t>
    </dgm:pt>
    <dgm:pt modelId="{63D4C549-9B2D-42CE-AF85-D7C152E66271}" type="parTrans" cxnId="{D4EFD7CF-905D-4C10-B9A2-AA2399E27CA4}">
      <dgm:prSet/>
      <dgm:spPr/>
      <dgm:t>
        <a:bodyPr/>
        <a:lstStyle/>
        <a:p>
          <a:endParaRPr lang="en-US"/>
        </a:p>
      </dgm:t>
    </dgm:pt>
    <dgm:pt modelId="{F99F50CF-80BF-4EA3-8043-EFBE264EC211}" type="sibTrans" cxnId="{D4EFD7CF-905D-4C10-B9A2-AA2399E27CA4}">
      <dgm:prSet/>
      <dgm:spPr/>
      <dgm:t>
        <a:bodyPr/>
        <a:lstStyle/>
        <a:p>
          <a:endParaRPr lang="en-US"/>
        </a:p>
      </dgm:t>
    </dgm:pt>
    <dgm:pt modelId="{41612C67-F69C-4397-A82F-3346BDCAAF9F}">
      <dgm:prSet/>
      <dgm:spPr/>
      <dgm:t>
        <a:bodyPr/>
        <a:lstStyle/>
        <a:p>
          <a:r>
            <a:rPr lang="pl-PL"/>
            <a:t>LAB: Implementacja health checks</a:t>
          </a:r>
          <a:endParaRPr lang="en-US"/>
        </a:p>
      </dgm:t>
    </dgm:pt>
    <dgm:pt modelId="{3467B52F-00CE-4F30-B3F4-D6ADA69070A3}" type="parTrans" cxnId="{F5621DE0-BDFD-485E-8FE8-98A44261AC9E}">
      <dgm:prSet/>
      <dgm:spPr/>
      <dgm:t>
        <a:bodyPr/>
        <a:lstStyle/>
        <a:p>
          <a:endParaRPr lang="en-US"/>
        </a:p>
      </dgm:t>
    </dgm:pt>
    <dgm:pt modelId="{EFF72DBB-1AFC-4578-B668-D62342EB96D7}" type="sibTrans" cxnId="{F5621DE0-BDFD-485E-8FE8-98A44261AC9E}">
      <dgm:prSet/>
      <dgm:spPr/>
      <dgm:t>
        <a:bodyPr/>
        <a:lstStyle/>
        <a:p>
          <a:endParaRPr lang="en-US"/>
        </a:p>
      </dgm:t>
    </dgm:pt>
    <dgm:pt modelId="{50159AE5-51AA-6E48-94D5-5333BFACEBC5}" type="pres">
      <dgm:prSet presAssocID="{11B3E451-8405-4935-AA9D-1B17F592CFA0}" presName="linear" presStyleCnt="0">
        <dgm:presLayoutVars>
          <dgm:animLvl val="lvl"/>
          <dgm:resizeHandles val="exact"/>
        </dgm:presLayoutVars>
      </dgm:prSet>
      <dgm:spPr/>
    </dgm:pt>
    <dgm:pt modelId="{D70393C7-C9E0-1F48-8459-BBD290808506}" type="pres">
      <dgm:prSet presAssocID="{0E973975-81DB-4E96-A52F-B65571F9E9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5FEBF0B-AB78-5046-BB0B-5BDB84DD078C}" type="pres">
      <dgm:prSet presAssocID="{0E973975-81DB-4E96-A52F-B65571F9E918}" presName="childText" presStyleLbl="revTx" presStyleIdx="0" presStyleCnt="2">
        <dgm:presLayoutVars>
          <dgm:bulletEnabled val="1"/>
        </dgm:presLayoutVars>
      </dgm:prSet>
      <dgm:spPr/>
    </dgm:pt>
    <dgm:pt modelId="{3DEB5635-6C90-E54B-BCED-0AD74D23981C}" type="pres">
      <dgm:prSet presAssocID="{2A929355-62C4-4E6B-AF6C-D2EDDC264EB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FF076E9-0957-6B4E-A57A-A894A86C6074}" type="pres">
      <dgm:prSet presAssocID="{2A929355-62C4-4E6B-AF6C-D2EDDC264EB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6DD0207-5985-F749-A4DD-C56F44F376E3}" type="presOf" srcId="{11B3E451-8405-4935-AA9D-1B17F592CFA0}" destId="{50159AE5-51AA-6E48-94D5-5333BFACEBC5}" srcOrd="0" destOrd="0" presId="urn:microsoft.com/office/officeart/2005/8/layout/vList2"/>
    <dgm:cxn modelId="{A847FD0F-2EE4-0942-97F1-0B8518ABC43C}" type="presOf" srcId="{ACF5CEA7-EAFE-4903-A681-BEC673957C0E}" destId="{9FF076E9-0957-6B4E-A57A-A894A86C6074}" srcOrd="0" destOrd="1" presId="urn:microsoft.com/office/officeart/2005/8/layout/vList2"/>
    <dgm:cxn modelId="{39680F2D-545B-BF49-9FDA-6143C1A90EE4}" type="presOf" srcId="{77DDBEE5-25F0-4EE1-9F13-8B5AE91F510A}" destId="{9FF076E9-0957-6B4E-A57A-A894A86C6074}" srcOrd="0" destOrd="0" presId="urn:microsoft.com/office/officeart/2005/8/layout/vList2"/>
    <dgm:cxn modelId="{33D0A558-A320-40F3-940D-552E864402B8}" srcId="{2A929355-62C4-4E6B-AF6C-D2EDDC264EBC}" destId="{ACF5CEA7-EAFE-4903-A681-BEC673957C0E}" srcOrd="1" destOrd="0" parTransId="{76677207-3E5A-42F2-B0E2-2F0D8E7B584C}" sibTransId="{45850F84-88B3-4E81-8FE5-6C6E0A500EDE}"/>
    <dgm:cxn modelId="{7016D563-240F-4059-90A2-E12C2FFE5991}" srcId="{2A929355-62C4-4E6B-AF6C-D2EDDC264EBC}" destId="{F3C39CF4-DEB3-49C1-808A-4A424AA10DE9}" srcOrd="2" destOrd="0" parTransId="{D8ADB018-6DC5-4843-B020-924034E3DF25}" sibTransId="{A99018C4-9A1C-456F-8529-1D24348F550C}"/>
    <dgm:cxn modelId="{7ED9F576-62BE-D243-9664-48D5C21474BD}" type="presOf" srcId="{7B6C2E24-7971-4362-A3F4-5110B7BFC7CA}" destId="{A5FEBF0B-AB78-5046-BB0B-5BDB84DD078C}" srcOrd="0" destOrd="1" presId="urn:microsoft.com/office/officeart/2005/8/layout/vList2"/>
    <dgm:cxn modelId="{6C25A977-90AB-874E-9984-B5E79694313D}" type="presOf" srcId="{41612C67-F69C-4397-A82F-3346BDCAAF9F}" destId="{9FF076E9-0957-6B4E-A57A-A894A86C6074}" srcOrd="0" destOrd="4" presId="urn:microsoft.com/office/officeart/2005/8/layout/vList2"/>
    <dgm:cxn modelId="{B6F35589-FEF6-F04E-8987-0D8CCD25401E}" type="presOf" srcId="{F3C39CF4-DEB3-49C1-808A-4A424AA10DE9}" destId="{9FF076E9-0957-6B4E-A57A-A894A86C6074}" srcOrd="0" destOrd="2" presId="urn:microsoft.com/office/officeart/2005/8/layout/vList2"/>
    <dgm:cxn modelId="{7BCDB590-92F5-4E9A-97E9-7E51720573AC}" srcId="{11B3E451-8405-4935-AA9D-1B17F592CFA0}" destId="{0E973975-81DB-4E96-A52F-B65571F9E918}" srcOrd="0" destOrd="0" parTransId="{BCEA67E1-CF10-4E7D-87B6-A4A2D313B3A2}" sibTransId="{9834B8BF-9BB3-4203-BA4A-F84C48E33C1F}"/>
    <dgm:cxn modelId="{42D82D9A-7DE3-7445-A1A0-56274F8E7686}" type="presOf" srcId="{0E973975-81DB-4E96-A52F-B65571F9E918}" destId="{D70393C7-C9E0-1F48-8459-BBD290808506}" srcOrd="0" destOrd="0" presId="urn:microsoft.com/office/officeart/2005/8/layout/vList2"/>
    <dgm:cxn modelId="{31857CC3-210F-42D9-9908-2AAFABE7FB98}" srcId="{0E973975-81DB-4E96-A52F-B65571F9E918}" destId="{D13E7789-167C-4FED-BFE9-882FA2BE383F}" srcOrd="0" destOrd="0" parTransId="{99E8C68C-61C3-4C54-970D-1D71CF2B924D}" sibTransId="{B14DB8BB-2108-432D-9028-A2DAC446366F}"/>
    <dgm:cxn modelId="{008359C6-C232-4910-9587-1ADE38900D44}" srcId="{11B3E451-8405-4935-AA9D-1B17F592CFA0}" destId="{2A929355-62C4-4E6B-AF6C-D2EDDC264EBC}" srcOrd="1" destOrd="0" parTransId="{2E179169-10D4-4900-A642-0B47FD859438}" sibTransId="{3D534D64-276F-4527-BA50-6A6E5A180E46}"/>
    <dgm:cxn modelId="{3DB07CCD-BC1D-4B42-A656-29B6D014209C}" type="presOf" srcId="{5631F791-52D7-488C-A873-2D686EF45C46}" destId="{9FF076E9-0957-6B4E-A57A-A894A86C6074}" srcOrd="0" destOrd="3" presId="urn:microsoft.com/office/officeart/2005/8/layout/vList2"/>
    <dgm:cxn modelId="{D4EFD7CF-905D-4C10-B9A2-AA2399E27CA4}" srcId="{2A929355-62C4-4E6B-AF6C-D2EDDC264EBC}" destId="{5631F791-52D7-488C-A873-2D686EF45C46}" srcOrd="3" destOrd="0" parTransId="{63D4C549-9B2D-42CE-AF85-D7C152E66271}" sibTransId="{F99F50CF-80BF-4EA3-8043-EFBE264EC211}"/>
    <dgm:cxn modelId="{690441DC-F826-4029-BCFA-85E9642D8CD1}" srcId="{2A929355-62C4-4E6B-AF6C-D2EDDC264EBC}" destId="{77DDBEE5-25F0-4EE1-9F13-8B5AE91F510A}" srcOrd="0" destOrd="0" parTransId="{411A9173-1996-4941-9D50-8AFAB6FC3C1A}" sibTransId="{FEA7120E-E035-4CAD-9614-98DAA647210D}"/>
    <dgm:cxn modelId="{F5621DE0-BDFD-485E-8FE8-98A44261AC9E}" srcId="{2A929355-62C4-4E6B-AF6C-D2EDDC264EBC}" destId="{41612C67-F69C-4397-A82F-3346BDCAAF9F}" srcOrd="4" destOrd="0" parTransId="{3467B52F-00CE-4F30-B3F4-D6ADA69070A3}" sibTransId="{EFF72DBB-1AFC-4578-B668-D62342EB96D7}"/>
    <dgm:cxn modelId="{044DDEE3-0522-4156-940C-88677E4A439E}" srcId="{0E973975-81DB-4E96-A52F-B65571F9E918}" destId="{7B6C2E24-7971-4362-A3F4-5110B7BFC7CA}" srcOrd="1" destOrd="0" parTransId="{3C1F5911-5AEF-424E-B7D6-02512F978187}" sibTransId="{0E0E2D5F-48DA-4933-B367-E99A40444850}"/>
    <dgm:cxn modelId="{6DA911E5-1FDD-A440-A0D1-3EE4E284B2FA}" type="presOf" srcId="{2A929355-62C4-4E6B-AF6C-D2EDDC264EBC}" destId="{3DEB5635-6C90-E54B-BCED-0AD74D23981C}" srcOrd="0" destOrd="0" presId="urn:microsoft.com/office/officeart/2005/8/layout/vList2"/>
    <dgm:cxn modelId="{2C32EAFD-70C7-844E-A430-CE5F50CA2200}" type="presOf" srcId="{D13E7789-167C-4FED-BFE9-882FA2BE383F}" destId="{A5FEBF0B-AB78-5046-BB0B-5BDB84DD078C}" srcOrd="0" destOrd="0" presId="urn:microsoft.com/office/officeart/2005/8/layout/vList2"/>
    <dgm:cxn modelId="{02DCE2CD-91E7-3E49-9BD7-8F29CB5CDA4B}" type="presParOf" srcId="{50159AE5-51AA-6E48-94D5-5333BFACEBC5}" destId="{D70393C7-C9E0-1F48-8459-BBD290808506}" srcOrd="0" destOrd="0" presId="urn:microsoft.com/office/officeart/2005/8/layout/vList2"/>
    <dgm:cxn modelId="{4017FBB1-2A57-8E4B-B0B2-5633373A4EC4}" type="presParOf" srcId="{50159AE5-51AA-6E48-94D5-5333BFACEBC5}" destId="{A5FEBF0B-AB78-5046-BB0B-5BDB84DD078C}" srcOrd="1" destOrd="0" presId="urn:microsoft.com/office/officeart/2005/8/layout/vList2"/>
    <dgm:cxn modelId="{EDF77E9E-0D0F-FB41-81B2-FBC5B0D9EF81}" type="presParOf" srcId="{50159AE5-51AA-6E48-94D5-5333BFACEBC5}" destId="{3DEB5635-6C90-E54B-BCED-0AD74D23981C}" srcOrd="2" destOrd="0" presId="urn:microsoft.com/office/officeart/2005/8/layout/vList2"/>
    <dgm:cxn modelId="{545E8C4D-36B7-F343-A083-4BA42E3F9589}" type="presParOf" srcId="{50159AE5-51AA-6E48-94D5-5333BFACEBC5}" destId="{9FF076E9-0957-6B4E-A57A-A894A86C607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52B8A2-F3F7-4168-BF2F-9EBDB4BF785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CA97AA-D4A2-4165-8F26-0B848B32099A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5AE97D1E-6A2B-435B-A673-06E5F4A755F6}" type="parTrans" cxnId="{704F5D8C-4D82-4220-825E-2AE0A486F38C}">
      <dgm:prSet/>
      <dgm:spPr/>
      <dgm:t>
        <a:bodyPr/>
        <a:lstStyle/>
        <a:p>
          <a:endParaRPr lang="en-US"/>
        </a:p>
      </dgm:t>
    </dgm:pt>
    <dgm:pt modelId="{A31925C2-4345-4350-977C-09586F6AB139}" type="sibTrans" cxnId="{704F5D8C-4D82-4220-825E-2AE0A486F38C}">
      <dgm:prSet/>
      <dgm:spPr/>
      <dgm:t>
        <a:bodyPr/>
        <a:lstStyle/>
        <a:p>
          <a:endParaRPr lang="en-US"/>
        </a:p>
      </dgm:t>
    </dgm:pt>
    <dgm:pt modelId="{1D4D6163-FDCB-457B-BC8E-B6152831D3FE}">
      <dgm:prSet/>
      <dgm:spPr/>
      <dgm:t>
        <a:bodyPr/>
        <a:lstStyle/>
        <a:p>
          <a:r>
            <a:rPr lang="pl-PL"/>
            <a:t>Architektura Kubernetes</a:t>
          </a:r>
          <a:endParaRPr lang="en-US"/>
        </a:p>
      </dgm:t>
    </dgm:pt>
    <dgm:pt modelId="{602C3376-CE91-429F-B397-3449CA4D6210}" type="parTrans" cxnId="{F96170D6-95BA-4858-AA6D-413EE66DBD1C}">
      <dgm:prSet/>
      <dgm:spPr/>
      <dgm:t>
        <a:bodyPr/>
        <a:lstStyle/>
        <a:p>
          <a:endParaRPr lang="en-US"/>
        </a:p>
      </dgm:t>
    </dgm:pt>
    <dgm:pt modelId="{C3048D78-8D18-4FFB-A961-1F0BD7848A6F}" type="sibTrans" cxnId="{F96170D6-95BA-4858-AA6D-413EE66DBD1C}">
      <dgm:prSet/>
      <dgm:spPr/>
      <dgm:t>
        <a:bodyPr/>
        <a:lstStyle/>
        <a:p>
          <a:endParaRPr lang="en-US"/>
        </a:p>
      </dgm:t>
    </dgm:pt>
    <dgm:pt modelId="{9660E7D6-B25F-46C3-8E67-3B3E2646D299}">
      <dgm:prSet/>
      <dgm:spPr/>
      <dgm:t>
        <a:bodyPr/>
        <a:lstStyle/>
        <a:p>
          <a:r>
            <a:rPr lang="pl-PL"/>
            <a:t>Setup Minikube</a:t>
          </a:r>
          <a:endParaRPr lang="en-US"/>
        </a:p>
      </dgm:t>
    </dgm:pt>
    <dgm:pt modelId="{F0965D89-85BF-46FB-9E98-D0E83D4F10EA}" type="parTrans" cxnId="{9F9B032F-A3B9-4B51-BC07-FFFDD7C72E1B}">
      <dgm:prSet/>
      <dgm:spPr/>
      <dgm:t>
        <a:bodyPr/>
        <a:lstStyle/>
        <a:p>
          <a:endParaRPr lang="en-US"/>
        </a:p>
      </dgm:t>
    </dgm:pt>
    <dgm:pt modelId="{2ABACBB3-EB55-42CE-9B28-38ED20191CC5}" type="sibTrans" cxnId="{9F9B032F-A3B9-4B51-BC07-FFFDD7C72E1B}">
      <dgm:prSet/>
      <dgm:spPr/>
      <dgm:t>
        <a:bodyPr/>
        <a:lstStyle/>
        <a:p>
          <a:endParaRPr lang="en-US"/>
        </a:p>
      </dgm:t>
    </dgm:pt>
    <dgm:pt modelId="{900BC9C3-BE1A-4BFA-8E1B-29C646376FB0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FED1A1BB-7A55-471B-A768-636357F09F29}" type="parTrans" cxnId="{52669CD5-1851-41CC-BA18-1461AC07B5B2}">
      <dgm:prSet/>
      <dgm:spPr/>
      <dgm:t>
        <a:bodyPr/>
        <a:lstStyle/>
        <a:p>
          <a:endParaRPr lang="en-US"/>
        </a:p>
      </dgm:t>
    </dgm:pt>
    <dgm:pt modelId="{7F0544E3-FE27-4BA7-A214-251672F5C049}" type="sibTrans" cxnId="{52669CD5-1851-41CC-BA18-1461AC07B5B2}">
      <dgm:prSet/>
      <dgm:spPr/>
      <dgm:t>
        <a:bodyPr/>
        <a:lstStyle/>
        <a:p>
          <a:endParaRPr lang="en-US"/>
        </a:p>
      </dgm:t>
    </dgm:pt>
    <dgm:pt modelId="{6C2A6311-1776-4639-8AFE-41D4E611A4B4}">
      <dgm:prSet/>
      <dgm:spPr/>
      <dgm:t>
        <a:bodyPr/>
        <a:lstStyle/>
        <a:p>
          <a:r>
            <a:rPr lang="en-US"/>
            <a:t>Kubernetes: Control Plane, Worker Nodes, etcd</a:t>
          </a:r>
        </a:p>
      </dgm:t>
    </dgm:pt>
    <dgm:pt modelId="{65B0A1C9-8A03-471C-9313-272E8C3FE5CA}" type="parTrans" cxnId="{A7FF1BA0-A73F-4106-BBAC-DAF92AE3A998}">
      <dgm:prSet/>
      <dgm:spPr/>
      <dgm:t>
        <a:bodyPr/>
        <a:lstStyle/>
        <a:p>
          <a:endParaRPr lang="en-US"/>
        </a:p>
      </dgm:t>
    </dgm:pt>
    <dgm:pt modelId="{142994DB-B2C6-4541-972B-C53E5FA3BE95}" type="sibTrans" cxnId="{A7FF1BA0-A73F-4106-BBAC-DAF92AE3A998}">
      <dgm:prSet/>
      <dgm:spPr/>
      <dgm:t>
        <a:bodyPr/>
        <a:lstStyle/>
        <a:p>
          <a:endParaRPr lang="en-US"/>
        </a:p>
      </dgm:t>
    </dgm:pt>
    <dgm:pt modelId="{1D6E6087-9EC8-45C9-B7C1-532BC1EE7448}">
      <dgm:prSet/>
      <dgm:spPr/>
      <dgm:t>
        <a:bodyPr/>
        <a:lstStyle/>
        <a:p>
          <a:r>
            <a:rPr lang="pl-PL"/>
            <a:t>kubectl: podstawowe komendy</a:t>
          </a:r>
          <a:endParaRPr lang="en-US"/>
        </a:p>
      </dgm:t>
    </dgm:pt>
    <dgm:pt modelId="{218137CE-DFED-4CD7-A9BE-856D9A498907}" type="parTrans" cxnId="{F7635AB5-535A-44D5-AFEC-055125EE491E}">
      <dgm:prSet/>
      <dgm:spPr/>
      <dgm:t>
        <a:bodyPr/>
        <a:lstStyle/>
        <a:p>
          <a:endParaRPr lang="en-US"/>
        </a:p>
      </dgm:t>
    </dgm:pt>
    <dgm:pt modelId="{093B5896-1FD9-4E7E-8098-9E2A4B03B929}" type="sibTrans" cxnId="{F7635AB5-535A-44D5-AFEC-055125EE491E}">
      <dgm:prSet/>
      <dgm:spPr/>
      <dgm:t>
        <a:bodyPr/>
        <a:lstStyle/>
        <a:p>
          <a:endParaRPr lang="en-US"/>
        </a:p>
      </dgm:t>
    </dgm:pt>
    <dgm:pt modelId="{5824862D-86C3-4346-8D30-1A71B160C21E}">
      <dgm:prSet/>
      <dgm:spPr/>
      <dgm:t>
        <a:bodyPr/>
        <a:lstStyle/>
        <a:p>
          <a:r>
            <a:rPr lang="pl-PL"/>
            <a:t>Przegląd klastra: nodes, namespaces, resources</a:t>
          </a:r>
          <a:endParaRPr lang="en-US"/>
        </a:p>
      </dgm:t>
    </dgm:pt>
    <dgm:pt modelId="{7CA0BD8D-9327-45E6-8786-E275BF5936BA}" type="parTrans" cxnId="{560F2968-3011-4048-AC1A-243891B2EBCC}">
      <dgm:prSet/>
      <dgm:spPr/>
      <dgm:t>
        <a:bodyPr/>
        <a:lstStyle/>
        <a:p>
          <a:endParaRPr lang="en-US"/>
        </a:p>
      </dgm:t>
    </dgm:pt>
    <dgm:pt modelId="{9FE99ADE-7AA6-4ED4-B7E1-11551F8EE137}" type="sibTrans" cxnId="{560F2968-3011-4048-AC1A-243891B2EBCC}">
      <dgm:prSet/>
      <dgm:spPr/>
      <dgm:t>
        <a:bodyPr/>
        <a:lstStyle/>
        <a:p>
          <a:endParaRPr lang="en-US"/>
        </a:p>
      </dgm:t>
    </dgm:pt>
    <dgm:pt modelId="{6D5F479C-3824-44A7-A5A7-04B1458C4DA9}">
      <dgm:prSet/>
      <dgm:spPr/>
      <dgm:t>
        <a:bodyPr/>
        <a:lstStyle/>
        <a:p>
          <a:r>
            <a:rPr lang="pl-PL"/>
            <a:t>LAB: pierwsza komenda kubectl</a:t>
          </a:r>
          <a:endParaRPr lang="en-US"/>
        </a:p>
      </dgm:t>
    </dgm:pt>
    <dgm:pt modelId="{75E45A09-7CDB-4B42-BBBA-43E27F685331}" type="parTrans" cxnId="{268290C8-E1D1-4F78-A979-06E67080CE28}">
      <dgm:prSet/>
      <dgm:spPr/>
      <dgm:t>
        <a:bodyPr/>
        <a:lstStyle/>
        <a:p>
          <a:endParaRPr lang="en-US"/>
        </a:p>
      </dgm:t>
    </dgm:pt>
    <dgm:pt modelId="{998F8455-6FC6-4985-B187-E049472575CD}" type="sibTrans" cxnId="{268290C8-E1D1-4F78-A979-06E67080CE28}">
      <dgm:prSet/>
      <dgm:spPr/>
      <dgm:t>
        <a:bodyPr/>
        <a:lstStyle/>
        <a:p>
          <a:endParaRPr lang="en-US"/>
        </a:p>
      </dgm:t>
    </dgm:pt>
    <dgm:pt modelId="{9B0A8CE5-8755-1346-984B-CE11D33EB6A4}" type="pres">
      <dgm:prSet presAssocID="{3652B8A2-F3F7-4168-BF2F-9EBDB4BF785F}" presName="linear" presStyleCnt="0">
        <dgm:presLayoutVars>
          <dgm:animLvl val="lvl"/>
          <dgm:resizeHandles val="exact"/>
        </dgm:presLayoutVars>
      </dgm:prSet>
      <dgm:spPr/>
    </dgm:pt>
    <dgm:pt modelId="{474AA2B0-587D-B247-A5B3-C53D049005F7}" type="pres">
      <dgm:prSet presAssocID="{0ECA97AA-D4A2-4165-8F26-0B848B3209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D9B40E-DE0E-2F44-B2E8-490611F50A50}" type="pres">
      <dgm:prSet presAssocID="{0ECA97AA-D4A2-4165-8F26-0B848B32099A}" presName="childText" presStyleLbl="revTx" presStyleIdx="0" presStyleCnt="2">
        <dgm:presLayoutVars>
          <dgm:bulletEnabled val="1"/>
        </dgm:presLayoutVars>
      </dgm:prSet>
      <dgm:spPr/>
    </dgm:pt>
    <dgm:pt modelId="{E48926AE-E84D-084A-8B12-B0EA8061B041}" type="pres">
      <dgm:prSet presAssocID="{900BC9C3-BE1A-4BFA-8E1B-29C646376FB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D84E03A-E03A-3244-B5AD-C1C99439B00D}" type="pres">
      <dgm:prSet presAssocID="{900BC9C3-BE1A-4BFA-8E1B-29C646376FB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CA4B809-43B4-6049-80CC-5F6F5B97900F}" type="presOf" srcId="{0ECA97AA-D4A2-4165-8F26-0B848B32099A}" destId="{474AA2B0-587D-B247-A5B3-C53D049005F7}" srcOrd="0" destOrd="0" presId="urn:microsoft.com/office/officeart/2005/8/layout/vList2"/>
    <dgm:cxn modelId="{DA99FE1F-6CCC-474D-A095-804026E3D6CF}" type="presOf" srcId="{1D4D6163-FDCB-457B-BC8E-B6152831D3FE}" destId="{3BD9B40E-DE0E-2F44-B2E8-490611F50A50}" srcOrd="0" destOrd="0" presId="urn:microsoft.com/office/officeart/2005/8/layout/vList2"/>
    <dgm:cxn modelId="{9F9B032F-A3B9-4B51-BC07-FFFDD7C72E1B}" srcId="{0ECA97AA-D4A2-4165-8F26-0B848B32099A}" destId="{9660E7D6-B25F-46C3-8E67-3B3E2646D299}" srcOrd="1" destOrd="0" parTransId="{F0965D89-85BF-46FB-9E98-D0E83D4F10EA}" sibTransId="{2ABACBB3-EB55-42CE-9B28-38ED20191CC5}"/>
    <dgm:cxn modelId="{4FF19E40-6B0C-514A-9083-38EA99416E7D}" type="presOf" srcId="{900BC9C3-BE1A-4BFA-8E1B-29C646376FB0}" destId="{E48926AE-E84D-084A-8B12-B0EA8061B041}" srcOrd="0" destOrd="0" presId="urn:microsoft.com/office/officeart/2005/8/layout/vList2"/>
    <dgm:cxn modelId="{74A9DD47-D283-234F-9C7D-7D6F69C60308}" type="presOf" srcId="{3652B8A2-F3F7-4168-BF2F-9EBDB4BF785F}" destId="{9B0A8CE5-8755-1346-984B-CE11D33EB6A4}" srcOrd="0" destOrd="0" presId="urn:microsoft.com/office/officeart/2005/8/layout/vList2"/>
    <dgm:cxn modelId="{560F2968-3011-4048-AC1A-243891B2EBCC}" srcId="{900BC9C3-BE1A-4BFA-8E1B-29C646376FB0}" destId="{5824862D-86C3-4346-8D30-1A71B160C21E}" srcOrd="2" destOrd="0" parTransId="{7CA0BD8D-9327-45E6-8786-E275BF5936BA}" sibTransId="{9FE99ADE-7AA6-4ED4-B7E1-11551F8EE137}"/>
    <dgm:cxn modelId="{31641A7E-85B2-2F4F-B92F-6F3759DCD434}" type="presOf" srcId="{5824862D-86C3-4346-8D30-1A71B160C21E}" destId="{5D84E03A-E03A-3244-B5AD-C1C99439B00D}" srcOrd="0" destOrd="2" presId="urn:microsoft.com/office/officeart/2005/8/layout/vList2"/>
    <dgm:cxn modelId="{704F5D8C-4D82-4220-825E-2AE0A486F38C}" srcId="{3652B8A2-F3F7-4168-BF2F-9EBDB4BF785F}" destId="{0ECA97AA-D4A2-4165-8F26-0B848B32099A}" srcOrd="0" destOrd="0" parTransId="{5AE97D1E-6A2B-435B-A673-06E5F4A755F6}" sibTransId="{A31925C2-4345-4350-977C-09586F6AB139}"/>
    <dgm:cxn modelId="{A7FF1BA0-A73F-4106-BBAC-DAF92AE3A998}" srcId="{900BC9C3-BE1A-4BFA-8E1B-29C646376FB0}" destId="{6C2A6311-1776-4639-8AFE-41D4E611A4B4}" srcOrd="0" destOrd="0" parTransId="{65B0A1C9-8A03-471C-9313-272E8C3FE5CA}" sibTransId="{142994DB-B2C6-4541-972B-C53E5FA3BE95}"/>
    <dgm:cxn modelId="{F7635AB5-535A-44D5-AFEC-055125EE491E}" srcId="{900BC9C3-BE1A-4BFA-8E1B-29C646376FB0}" destId="{1D6E6087-9EC8-45C9-B7C1-532BC1EE7448}" srcOrd="1" destOrd="0" parTransId="{218137CE-DFED-4CD7-A9BE-856D9A498907}" sibTransId="{093B5896-1FD9-4E7E-8098-9E2A4B03B929}"/>
    <dgm:cxn modelId="{268290C8-E1D1-4F78-A979-06E67080CE28}" srcId="{900BC9C3-BE1A-4BFA-8E1B-29C646376FB0}" destId="{6D5F479C-3824-44A7-A5A7-04B1458C4DA9}" srcOrd="3" destOrd="0" parTransId="{75E45A09-7CDB-4B42-BBBA-43E27F685331}" sibTransId="{998F8455-6FC6-4985-B187-E049472575CD}"/>
    <dgm:cxn modelId="{52669CD5-1851-41CC-BA18-1461AC07B5B2}" srcId="{3652B8A2-F3F7-4168-BF2F-9EBDB4BF785F}" destId="{900BC9C3-BE1A-4BFA-8E1B-29C646376FB0}" srcOrd="1" destOrd="0" parTransId="{FED1A1BB-7A55-471B-A768-636357F09F29}" sibTransId="{7F0544E3-FE27-4BA7-A214-251672F5C049}"/>
    <dgm:cxn modelId="{F96170D6-95BA-4858-AA6D-413EE66DBD1C}" srcId="{0ECA97AA-D4A2-4165-8F26-0B848B32099A}" destId="{1D4D6163-FDCB-457B-BC8E-B6152831D3FE}" srcOrd="0" destOrd="0" parTransId="{602C3376-CE91-429F-B397-3449CA4D6210}" sibTransId="{C3048D78-8D18-4FFB-A961-1F0BD7848A6F}"/>
    <dgm:cxn modelId="{4B8DE9E1-2049-8640-8815-14E47E41B373}" type="presOf" srcId="{6C2A6311-1776-4639-8AFE-41D4E611A4B4}" destId="{5D84E03A-E03A-3244-B5AD-C1C99439B00D}" srcOrd="0" destOrd="0" presId="urn:microsoft.com/office/officeart/2005/8/layout/vList2"/>
    <dgm:cxn modelId="{DD3960ED-53CF-444A-B4FB-677BFC8A53EA}" type="presOf" srcId="{6D5F479C-3824-44A7-A5A7-04B1458C4DA9}" destId="{5D84E03A-E03A-3244-B5AD-C1C99439B00D}" srcOrd="0" destOrd="3" presId="urn:microsoft.com/office/officeart/2005/8/layout/vList2"/>
    <dgm:cxn modelId="{59F1A4F2-A4C9-4F45-87E7-D5F04DFB678F}" type="presOf" srcId="{1D6E6087-9EC8-45C9-B7C1-532BC1EE7448}" destId="{5D84E03A-E03A-3244-B5AD-C1C99439B00D}" srcOrd="0" destOrd="1" presId="urn:microsoft.com/office/officeart/2005/8/layout/vList2"/>
    <dgm:cxn modelId="{2CA358F7-BDF9-7F4D-9447-2A030AB50DAE}" type="presOf" srcId="{9660E7D6-B25F-46C3-8E67-3B3E2646D299}" destId="{3BD9B40E-DE0E-2F44-B2E8-490611F50A50}" srcOrd="0" destOrd="1" presId="urn:microsoft.com/office/officeart/2005/8/layout/vList2"/>
    <dgm:cxn modelId="{9725C5F1-9350-E04E-99D9-8D52CC17FC4B}" type="presParOf" srcId="{9B0A8CE5-8755-1346-984B-CE11D33EB6A4}" destId="{474AA2B0-587D-B247-A5B3-C53D049005F7}" srcOrd="0" destOrd="0" presId="urn:microsoft.com/office/officeart/2005/8/layout/vList2"/>
    <dgm:cxn modelId="{5A9E0E9B-DD88-1C4D-9379-E5EB4D673BA7}" type="presParOf" srcId="{9B0A8CE5-8755-1346-984B-CE11D33EB6A4}" destId="{3BD9B40E-DE0E-2F44-B2E8-490611F50A50}" srcOrd="1" destOrd="0" presId="urn:microsoft.com/office/officeart/2005/8/layout/vList2"/>
    <dgm:cxn modelId="{E00C29B9-95F0-6142-AF7C-2EB154E711DA}" type="presParOf" srcId="{9B0A8CE5-8755-1346-984B-CE11D33EB6A4}" destId="{E48926AE-E84D-084A-8B12-B0EA8061B041}" srcOrd="2" destOrd="0" presId="urn:microsoft.com/office/officeart/2005/8/layout/vList2"/>
    <dgm:cxn modelId="{D8D226D2-07F6-2E46-8391-17CF4F10CD18}" type="presParOf" srcId="{9B0A8CE5-8755-1346-984B-CE11D33EB6A4}" destId="{5D84E03A-E03A-3244-B5AD-C1C99439B00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63C8A6-29F3-AF44-B6E4-466F962063D5}" type="doc">
      <dgm:prSet loTypeId="urn:microsoft.com/office/officeart/2005/8/layout/chevron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l-PL"/>
        </a:p>
      </dgm:t>
    </dgm:pt>
    <dgm:pt modelId="{0BCCDBFE-8C49-F04D-AF41-49EB81D0E5CB}">
      <dgm:prSet/>
      <dgm:spPr/>
      <dgm:t>
        <a:bodyPr/>
        <a:lstStyle/>
        <a:p>
          <a:r>
            <a:rPr lang="pl-PL" b="1" baseline="0" dirty="0"/>
            <a:t>registry</a:t>
          </a:r>
          <a:r>
            <a:rPr lang="pl-PL" b="0" baseline="0" dirty="0"/>
            <a:t> to magazyn tych obrazów,</a:t>
          </a:r>
          <a:endParaRPr lang="pl-PL" dirty="0"/>
        </a:p>
      </dgm:t>
    </dgm:pt>
    <dgm:pt modelId="{49DF41FB-378A-8048-B2EC-EF260EA41751}" type="parTrans" cxnId="{98002C83-D7CD-2F40-956A-7EAA3C632E79}">
      <dgm:prSet/>
      <dgm:spPr/>
      <dgm:t>
        <a:bodyPr/>
        <a:lstStyle/>
        <a:p>
          <a:endParaRPr lang="pl-PL"/>
        </a:p>
      </dgm:t>
    </dgm:pt>
    <dgm:pt modelId="{86B3E818-D4D8-BF4E-A727-C71A59F81F6F}" type="sibTrans" cxnId="{98002C83-D7CD-2F40-956A-7EAA3C632E79}">
      <dgm:prSet/>
      <dgm:spPr/>
      <dgm:t>
        <a:bodyPr/>
        <a:lstStyle/>
        <a:p>
          <a:endParaRPr lang="pl-PL"/>
        </a:p>
      </dgm:t>
    </dgm:pt>
    <dgm:pt modelId="{64693462-5B97-AF41-AACC-E7E13431BA49}">
      <dgm:prSet/>
      <dgm:spPr/>
      <dgm:t>
        <a:bodyPr/>
        <a:lstStyle/>
        <a:p>
          <a:r>
            <a:rPr lang="pl-PL" b="1" baseline="0" dirty="0"/>
            <a:t>Docker Hub</a:t>
          </a:r>
          <a:r>
            <a:rPr lang="pl-PL" b="0" baseline="0" dirty="0"/>
            <a:t> to najpopularniejsze publiczne registry.</a:t>
          </a:r>
          <a:endParaRPr lang="pl-PL" dirty="0"/>
        </a:p>
      </dgm:t>
    </dgm:pt>
    <dgm:pt modelId="{E0E2D51D-4CE6-FC46-8B36-6C2FD94844C2}" type="parTrans" cxnId="{ECB23CB3-3AA2-9C4C-B4EE-39691E6D1222}">
      <dgm:prSet/>
      <dgm:spPr/>
      <dgm:t>
        <a:bodyPr/>
        <a:lstStyle/>
        <a:p>
          <a:endParaRPr lang="pl-PL"/>
        </a:p>
      </dgm:t>
    </dgm:pt>
    <dgm:pt modelId="{8803FA03-366B-A24C-B102-612E6BB3C184}" type="sibTrans" cxnId="{ECB23CB3-3AA2-9C4C-B4EE-39691E6D1222}">
      <dgm:prSet/>
      <dgm:spPr/>
      <dgm:t>
        <a:bodyPr/>
        <a:lstStyle/>
        <a:p>
          <a:endParaRPr lang="pl-PL"/>
        </a:p>
      </dgm:t>
    </dgm:pt>
    <dgm:pt modelId="{9DFC00F5-56AD-D446-8605-3C1939FA4D1D}">
      <dgm:prSet/>
      <dgm:spPr/>
      <dgm:t>
        <a:bodyPr/>
        <a:lstStyle/>
        <a:p>
          <a:r>
            <a:rPr lang="pl-PL" b="1" baseline="0" dirty="0"/>
            <a:t>obraz (image)</a:t>
          </a:r>
          <a:r>
            <a:rPr lang="pl-PL" b="0" baseline="0" dirty="0"/>
            <a:t> to gotowy „szablon” aplikacji,</a:t>
          </a:r>
          <a:endParaRPr lang="pl-PL" dirty="0"/>
        </a:p>
      </dgm:t>
    </dgm:pt>
    <dgm:pt modelId="{771E2566-73EF-FA49-9F86-E2CBE49C43F4}" type="parTrans" cxnId="{7EFE22AF-1F18-444C-83B5-590F596113E8}">
      <dgm:prSet/>
      <dgm:spPr/>
      <dgm:t>
        <a:bodyPr/>
        <a:lstStyle/>
        <a:p>
          <a:endParaRPr lang="pl-PL"/>
        </a:p>
      </dgm:t>
    </dgm:pt>
    <dgm:pt modelId="{B8247313-78CF-F248-8B65-37EDEBAC0F98}" type="sibTrans" cxnId="{7EFE22AF-1F18-444C-83B5-590F596113E8}">
      <dgm:prSet/>
      <dgm:spPr/>
      <dgm:t>
        <a:bodyPr/>
        <a:lstStyle/>
        <a:p>
          <a:endParaRPr lang="pl-PL"/>
        </a:p>
      </dgm:t>
    </dgm:pt>
    <dgm:pt modelId="{75239910-AF3A-7142-A875-446A35047772}">
      <dgm:prSet/>
      <dgm:spPr/>
      <dgm:t>
        <a:bodyPr/>
        <a:lstStyle/>
        <a:p>
          <a:r>
            <a:rPr lang="pl-PL" dirty="0"/>
            <a:t>Obraz</a:t>
          </a:r>
        </a:p>
      </dgm:t>
    </dgm:pt>
    <dgm:pt modelId="{E74BA5C6-01ED-974B-B443-4B09ED527767}" type="parTrans" cxnId="{D98AFC5C-10E8-0C43-867A-509CA70105F6}">
      <dgm:prSet/>
      <dgm:spPr/>
      <dgm:t>
        <a:bodyPr/>
        <a:lstStyle/>
        <a:p>
          <a:endParaRPr lang="pl-PL"/>
        </a:p>
      </dgm:t>
    </dgm:pt>
    <dgm:pt modelId="{8F4A3CB5-8EB1-8444-9DC6-88E1344A4E3A}" type="sibTrans" cxnId="{D98AFC5C-10E8-0C43-867A-509CA70105F6}">
      <dgm:prSet/>
      <dgm:spPr/>
      <dgm:t>
        <a:bodyPr/>
        <a:lstStyle/>
        <a:p>
          <a:endParaRPr lang="pl-PL"/>
        </a:p>
      </dgm:t>
    </dgm:pt>
    <dgm:pt modelId="{65613DB5-0430-FE4A-AB46-A7857564EAC8}">
      <dgm:prSet/>
      <dgm:spPr/>
      <dgm:t>
        <a:bodyPr/>
        <a:lstStyle/>
        <a:p>
          <a:r>
            <a:rPr lang="pl-PL" dirty="0" err="1"/>
            <a:t>Registery</a:t>
          </a:r>
          <a:endParaRPr lang="pl-PL" dirty="0"/>
        </a:p>
      </dgm:t>
    </dgm:pt>
    <dgm:pt modelId="{F4EDC5D2-91B6-E142-B359-FA1545537DB8}" type="parTrans" cxnId="{D09061B4-BE66-E64B-BC5E-92A6EB393CC8}">
      <dgm:prSet/>
      <dgm:spPr/>
      <dgm:t>
        <a:bodyPr/>
        <a:lstStyle/>
        <a:p>
          <a:endParaRPr lang="pl-PL"/>
        </a:p>
      </dgm:t>
    </dgm:pt>
    <dgm:pt modelId="{3562F4F2-4B9D-164B-9A4F-4DC71F9A3093}" type="sibTrans" cxnId="{D09061B4-BE66-E64B-BC5E-92A6EB393CC8}">
      <dgm:prSet/>
      <dgm:spPr/>
      <dgm:t>
        <a:bodyPr/>
        <a:lstStyle/>
        <a:p>
          <a:endParaRPr lang="pl-PL"/>
        </a:p>
      </dgm:t>
    </dgm:pt>
    <dgm:pt modelId="{AF07D8F1-6887-C74C-B984-14E0741CEF5F}">
      <dgm:prSet/>
      <dgm:spPr/>
      <dgm:t>
        <a:bodyPr/>
        <a:lstStyle/>
        <a:p>
          <a:r>
            <a:rPr lang="pl-PL" dirty="0"/>
            <a:t>Docker Hub</a:t>
          </a:r>
        </a:p>
      </dgm:t>
    </dgm:pt>
    <dgm:pt modelId="{37373867-711D-FE43-80C0-6F6F45AD87B6}" type="parTrans" cxnId="{A3BD21D6-176E-0F4B-9A69-27503DC2C97F}">
      <dgm:prSet/>
      <dgm:spPr/>
      <dgm:t>
        <a:bodyPr/>
        <a:lstStyle/>
        <a:p>
          <a:endParaRPr lang="pl-PL"/>
        </a:p>
      </dgm:t>
    </dgm:pt>
    <dgm:pt modelId="{DD747810-AA35-8E45-9D53-787C9265DF50}" type="sibTrans" cxnId="{A3BD21D6-176E-0F4B-9A69-27503DC2C97F}">
      <dgm:prSet/>
      <dgm:spPr/>
      <dgm:t>
        <a:bodyPr/>
        <a:lstStyle/>
        <a:p>
          <a:endParaRPr lang="pl-PL"/>
        </a:p>
      </dgm:t>
    </dgm:pt>
    <dgm:pt modelId="{DA21F337-2B7F-834E-BDC6-B9D828140C66}" type="pres">
      <dgm:prSet presAssocID="{DC63C8A6-29F3-AF44-B6E4-466F962063D5}" presName="linearFlow" presStyleCnt="0">
        <dgm:presLayoutVars>
          <dgm:dir/>
          <dgm:animLvl val="lvl"/>
          <dgm:resizeHandles val="exact"/>
        </dgm:presLayoutVars>
      </dgm:prSet>
      <dgm:spPr/>
    </dgm:pt>
    <dgm:pt modelId="{77D23363-A923-AA4C-9FB6-9D9BA14167EB}" type="pres">
      <dgm:prSet presAssocID="{75239910-AF3A-7142-A875-446A35047772}" presName="composite" presStyleCnt="0"/>
      <dgm:spPr/>
    </dgm:pt>
    <dgm:pt modelId="{31A86244-BA9A-D542-B706-0AE56F883E1D}" type="pres">
      <dgm:prSet presAssocID="{75239910-AF3A-7142-A875-446A3504777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F539A4F-B2F0-6B42-98B3-DF2D2F3B0637}" type="pres">
      <dgm:prSet presAssocID="{75239910-AF3A-7142-A875-446A35047772}" presName="descendantText" presStyleLbl="alignAcc1" presStyleIdx="0" presStyleCnt="3">
        <dgm:presLayoutVars>
          <dgm:bulletEnabled val="1"/>
        </dgm:presLayoutVars>
      </dgm:prSet>
      <dgm:spPr/>
    </dgm:pt>
    <dgm:pt modelId="{80016130-DCA4-3240-9F06-1AC394934934}" type="pres">
      <dgm:prSet presAssocID="{8F4A3CB5-8EB1-8444-9DC6-88E1344A4E3A}" presName="sp" presStyleCnt="0"/>
      <dgm:spPr/>
    </dgm:pt>
    <dgm:pt modelId="{44D91140-3BB1-F641-BBFF-3E7CD2EBAEDD}" type="pres">
      <dgm:prSet presAssocID="{65613DB5-0430-FE4A-AB46-A7857564EAC8}" presName="composite" presStyleCnt="0"/>
      <dgm:spPr/>
    </dgm:pt>
    <dgm:pt modelId="{E5BC01D0-27AE-3849-93A3-F9A3EADDDE6D}" type="pres">
      <dgm:prSet presAssocID="{65613DB5-0430-FE4A-AB46-A7857564EAC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982FB30-D108-8E4A-85DE-26197CB1B5AB}" type="pres">
      <dgm:prSet presAssocID="{65613DB5-0430-FE4A-AB46-A7857564EAC8}" presName="descendantText" presStyleLbl="alignAcc1" presStyleIdx="1" presStyleCnt="3">
        <dgm:presLayoutVars>
          <dgm:bulletEnabled val="1"/>
        </dgm:presLayoutVars>
      </dgm:prSet>
      <dgm:spPr/>
    </dgm:pt>
    <dgm:pt modelId="{0EDB87E1-B653-9E4C-8703-25AE367D0B7C}" type="pres">
      <dgm:prSet presAssocID="{3562F4F2-4B9D-164B-9A4F-4DC71F9A3093}" presName="sp" presStyleCnt="0"/>
      <dgm:spPr/>
    </dgm:pt>
    <dgm:pt modelId="{1E2108F4-E405-4C41-93BE-4151671181A7}" type="pres">
      <dgm:prSet presAssocID="{AF07D8F1-6887-C74C-B984-14E0741CEF5F}" presName="composite" presStyleCnt="0"/>
      <dgm:spPr/>
    </dgm:pt>
    <dgm:pt modelId="{BAB28CD5-C131-1742-A241-AEE935232D5E}" type="pres">
      <dgm:prSet presAssocID="{AF07D8F1-6887-C74C-B984-14E0741CEF5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9E00AF1-3095-0745-A8AD-34E4EB36C5D0}" type="pres">
      <dgm:prSet presAssocID="{AF07D8F1-6887-C74C-B984-14E0741CEF5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F747718-9B71-9640-8114-701BAAC3B695}" type="presOf" srcId="{AF07D8F1-6887-C74C-B984-14E0741CEF5F}" destId="{BAB28CD5-C131-1742-A241-AEE935232D5E}" srcOrd="0" destOrd="0" presId="urn:microsoft.com/office/officeart/2005/8/layout/chevron2"/>
    <dgm:cxn modelId="{6EDD9021-7444-3148-81E8-D8667B0E541C}" type="presOf" srcId="{64693462-5B97-AF41-AACC-E7E13431BA49}" destId="{C9E00AF1-3095-0745-A8AD-34E4EB36C5D0}" srcOrd="0" destOrd="0" presId="urn:microsoft.com/office/officeart/2005/8/layout/chevron2"/>
    <dgm:cxn modelId="{7BF7023D-0D21-E84A-81B0-23BBD4B429C5}" type="presOf" srcId="{65613DB5-0430-FE4A-AB46-A7857564EAC8}" destId="{E5BC01D0-27AE-3849-93A3-F9A3EADDDE6D}" srcOrd="0" destOrd="0" presId="urn:microsoft.com/office/officeart/2005/8/layout/chevron2"/>
    <dgm:cxn modelId="{3990BB3F-4D0D-934D-81C8-840D39A0ED7B}" type="presOf" srcId="{0BCCDBFE-8C49-F04D-AF41-49EB81D0E5CB}" destId="{4982FB30-D108-8E4A-85DE-26197CB1B5AB}" srcOrd="0" destOrd="0" presId="urn:microsoft.com/office/officeart/2005/8/layout/chevron2"/>
    <dgm:cxn modelId="{D98AFC5C-10E8-0C43-867A-509CA70105F6}" srcId="{DC63C8A6-29F3-AF44-B6E4-466F962063D5}" destId="{75239910-AF3A-7142-A875-446A35047772}" srcOrd="0" destOrd="0" parTransId="{E74BA5C6-01ED-974B-B443-4B09ED527767}" sibTransId="{8F4A3CB5-8EB1-8444-9DC6-88E1344A4E3A}"/>
    <dgm:cxn modelId="{F3E4B568-9ECA-E743-8926-5E3550D8D40D}" type="presOf" srcId="{75239910-AF3A-7142-A875-446A35047772}" destId="{31A86244-BA9A-D542-B706-0AE56F883E1D}" srcOrd="0" destOrd="0" presId="urn:microsoft.com/office/officeart/2005/8/layout/chevron2"/>
    <dgm:cxn modelId="{1AEA0F80-C459-7A41-942F-DB74A0C36158}" type="presOf" srcId="{DC63C8A6-29F3-AF44-B6E4-466F962063D5}" destId="{DA21F337-2B7F-834E-BDC6-B9D828140C66}" srcOrd="0" destOrd="0" presId="urn:microsoft.com/office/officeart/2005/8/layout/chevron2"/>
    <dgm:cxn modelId="{98002C83-D7CD-2F40-956A-7EAA3C632E79}" srcId="{65613DB5-0430-FE4A-AB46-A7857564EAC8}" destId="{0BCCDBFE-8C49-F04D-AF41-49EB81D0E5CB}" srcOrd="0" destOrd="0" parTransId="{49DF41FB-378A-8048-B2EC-EF260EA41751}" sibTransId="{86B3E818-D4D8-BF4E-A727-C71A59F81F6F}"/>
    <dgm:cxn modelId="{7EFE22AF-1F18-444C-83B5-590F596113E8}" srcId="{75239910-AF3A-7142-A875-446A35047772}" destId="{9DFC00F5-56AD-D446-8605-3C1939FA4D1D}" srcOrd="0" destOrd="0" parTransId="{771E2566-73EF-FA49-9F86-E2CBE49C43F4}" sibTransId="{B8247313-78CF-F248-8B65-37EDEBAC0F98}"/>
    <dgm:cxn modelId="{ECB23CB3-3AA2-9C4C-B4EE-39691E6D1222}" srcId="{AF07D8F1-6887-C74C-B984-14E0741CEF5F}" destId="{64693462-5B97-AF41-AACC-E7E13431BA49}" srcOrd="0" destOrd="0" parTransId="{E0E2D51D-4CE6-FC46-8B36-6C2FD94844C2}" sibTransId="{8803FA03-366B-A24C-B102-612E6BB3C184}"/>
    <dgm:cxn modelId="{D09061B4-BE66-E64B-BC5E-92A6EB393CC8}" srcId="{DC63C8A6-29F3-AF44-B6E4-466F962063D5}" destId="{65613DB5-0430-FE4A-AB46-A7857564EAC8}" srcOrd="1" destOrd="0" parTransId="{F4EDC5D2-91B6-E142-B359-FA1545537DB8}" sibTransId="{3562F4F2-4B9D-164B-9A4F-4DC71F9A3093}"/>
    <dgm:cxn modelId="{A3BD21D6-176E-0F4B-9A69-27503DC2C97F}" srcId="{DC63C8A6-29F3-AF44-B6E4-466F962063D5}" destId="{AF07D8F1-6887-C74C-B984-14E0741CEF5F}" srcOrd="2" destOrd="0" parTransId="{37373867-711D-FE43-80C0-6F6F45AD87B6}" sibTransId="{DD747810-AA35-8E45-9D53-787C9265DF50}"/>
    <dgm:cxn modelId="{0CAAE8F7-66CE-014D-8A79-5537BA2D9FEB}" type="presOf" srcId="{9DFC00F5-56AD-D446-8605-3C1939FA4D1D}" destId="{5F539A4F-B2F0-6B42-98B3-DF2D2F3B0637}" srcOrd="0" destOrd="0" presId="urn:microsoft.com/office/officeart/2005/8/layout/chevron2"/>
    <dgm:cxn modelId="{65B6979C-8F6D-7240-BDA9-181781B3F528}" type="presParOf" srcId="{DA21F337-2B7F-834E-BDC6-B9D828140C66}" destId="{77D23363-A923-AA4C-9FB6-9D9BA14167EB}" srcOrd="0" destOrd="0" presId="urn:microsoft.com/office/officeart/2005/8/layout/chevron2"/>
    <dgm:cxn modelId="{96B08185-3E0E-9942-B368-C9FF10586416}" type="presParOf" srcId="{77D23363-A923-AA4C-9FB6-9D9BA14167EB}" destId="{31A86244-BA9A-D542-B706-0AE56F883E1D}" srcOrd="0" destOrd="0" presId="urn:microsoft.com/office/officeart/2005/8/layout/chevron2"/>
    <dgm:cxn modelId="{11F64220-D67E-9B44-B73C-C7762BF846A1}" type="presParOf" srcId="{77D23363-A923-AA4C-9FB6-9D9BA14167EB}" destId="{5F539A4F-B2F0-6B42-98B3-DF2D2F3B0637}" srcOrd="1" destOrd="0" presId="urn:microsoft.com/office/officeart/2005/8/layout/chevron2"/>
    <dgm:cxn modelId="{3353AF08-294E-A849-B657-0EC45438B408}" type="presParOf" srcId="{DA21F337-2B7F-834E-BDC6-B9D828140C66}" destId="{80016130-DCA4-3240-9F06-1AC394934934}" srcOrd="1" destOrd="0" presId="urn:microsoft.com/office/officeart/2005/8/layout/chevron2"/>
    <dgm:cxn modelId="{8AE75685-EE83-EB43-BD48-70F02C9C22DC}" type="presParOf" srcId="{DA21F337-2B7F-834E-BDC6-B9D828140C66}" destId="{44D91140-3BB1-F641-BBFF-3E7CD2EBAEDD}" srcOrd="2" destOrd="0" presId="urn:microsoft.com/office/officeart/2005/8/layout/chevron2"/>
    <dgm:cxn modelId="{4F7AB143-5E53-2D43-BC21-40011CA82748}" type="presParOf" srcId="{44D91140-3BB1-F641-BBFF-3E7CD2EBAEDD}" destId="{E5BC01D0-27AE-3849-93A3-F9A3EADDDE6D}" srcOrd="0" destOrd="0" presId="urn:microsoft.com/office/officeart/2005/8/layout/chevron2"/>
    <dgm:cxn modelId="{1915F26D-0944-234D-9907-F9A19FEEE3CA}" type="presParOf" srcId="{44D91140-3BB1-F641-BBFF-3E7CD2EBAEDD}" destId="{4982FB30-D108-8E4A-85DE-26197CB1B5AB}" srcOrd="1" destOrd="0" presId="urn:microsoft.com/office/officeart/2005/8/layout/chevron2"/>
    <dgm:cxn modelId="{67EF1F9F-E5EB-6B4D-AAA3-98FAA4C0A786}" type="presParOf" srcId="{DA21F337-2B7F-834E-BDC6-B9D828140C66}" destId="{0EDB87E1-B653-9E4C-8703-25AE367D0B7C}" srcOrd="3" destOrd="0" presId="urn:microsoft.com/office/officeart/2005/8/layout/chevron2"/>
    <dgm:cxn modelId="{52EDB32E-DD26-714E-8265-257F3F632744}" type="presParOf" srcId="{DA21F337-2B7F-834E-BDC6-B9D828140C66}" destId="{1E2108F4-E405-4C41-93BE-4151671181A7}" srcOrd="4" destOrd="0" presId="urn:microsoft.com/office/officeart/2005/8/layout/chevron2"/>
    <dgm:cxn modelId="{B63591F2-798A-1946-B7F3-F5169F4FB4D4}" type="presParOf" srcId="{1E2108F4-E405-4C41-93BE-4151671181A7}" destId="{BAB28CD5-C131-1742-A241-AEE935232D5E}" srcOrd="0" destOrd="0" presId="urn:microsoft.com/office/officeart/2005/8/layout/chevron2"/>
    <dgm:cxn modelId="{E09C2BF9-CCBF-EB43-807F-92D4AAB00DBF}" type="presParOf" srcId="{1E2108F4-E405-4C41-93BE-4151671181A7}" destId="{C9E00AF1-3095-0745-A8AD-34E4EB36C5D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7451C3-B023-9143-A74B-C050EF123EE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l-PL"/>
        </a:p>
      </dgm:t>
    </dgm:pt>
    <dgm:pt modelId="{27BA8E1A-2600-9943-A9EB-5C1487EF7C85}">
      <dgm:prSet/>
      <dgm:spPr/>
      <dgm:t>
        <a:bodyPr/>
        <a:lstStyle/>
        <a:p>
          <a:r>
            <a:rPr lang="pl-PL" b="0" baseline="0" dirty="0"/>
            <a:t>- Tworzysz obraz aplikacji </a:t>
          </a:r>
          <a:endParaRPr lang="pl-PL" dirty="0"/>
        </a:p>
      </dgm:t>
    </dgm:pt>
    <dgm:pt modelId="{D285DBB5-1A3B-CF49-A971-420787B99C0D}" type="parTrans" cxnId="{5FD00D86-352D-3145-8539-19EB76F838D9}">
      <dgm:prSet/>
      <dgm:spPr/>
      <dgm:t>
        <a:bodyPr/>
        <a:lstStyle/>
        <a:p>
          <a:endParaRPr lang="pl-PL"/>
        </a:p>
      </dgm:t>
    </dgm:pt>
    <dgm:pt modelId="{2ACC79F1-4623-1C48-BF18-F3A502C4088D}" type="sibTrans" cxnId="{5FD00D86-352D-3145-8539-19EB76F838D9}">
      <dgm:prSet/>
      <dgm:spPr/>
      <dgm:t>
        <a:bodyPr/>
        <a:lstStyle/>
        <a:p>
          <a:endParaRPr lang="pl-PL"/>
        </a:p>
      </dgm:t>
    </dgm:pt>
    <dgm:pt modelId="{315CCAFF-1A60-EF45-8ED0-F9557BD5AF72}">
      <dgm:prSet/>
      <dgm:spPr/>
      <dgm:t>
        <a:bodyPr/>
        <a:lstStyle/>
        <a:p>
          <a:r>
            <a:rPr lang="pl-PL" b="0" baseline="0"/>
            <a:t>- Wysyłasz do registery </a:t>
          </a:r>
          <a:endParaRPr lang="pl-PL"/>
        </a:p>
      </dgm:t>
    </dgm:pt>
    <dgm:pt modelId="{E4D6D76F-F270-9948-BDEF-2421ECA01DCA}" type="parTrans" cxnId="{D8904DBD-37CD-2648-B328-816123B00243}">
      <dgm:prSet/>
      <dgm:spPr/>
      <dgm:t>
        <a:bodyPr/>
        <a:lstStyle/>
        <a:p>
          <a:endParaRPr lang="pl-PL"/>
        </a:p>
      </dgm:t>
    </dgm:pt>
    <dgm:pt modelId="{5887A373-D7EB-FB44-90E9-588E481141C7}" type="sibTrans" cxnId="{D8904DBD-37CD-2648-B328-816123B00243}">
      <dgm:prSet/>
      <dgm:spPr/>
      <dgm:t>
        <a:bodyPr/>
        <a:lstStyle/>
        <a:p>
          <a:endParaRPr lang="pl-PL"/>
        </a:p>
      </dgm:t>
    </dgm:pt>
    <dgm:pt modelId="{5B31397A-E743-7246-9E47-25A02DDB85EB}">
      <dgm:prSet/>
      <dgm:spPr/>
      <dgm:t>
        <a:bodyPr/>
        <a:lstStyle/>
        <a:p>
          <a:r>
            <a:rPr lang="pl-PL" b="0" baseline="0"/>
            <a:t>- Potem </a:t>
          </a:r>
          <a:r>
            <a:rPr lang="pl-PL" b="1" baseline="0"/>
            <a:t>run anyware </a:t>
          </a:r>
          <a:endParaRPr lang="pl-PL"/>
        </a:p>
      </dgm:t>
    </dgm:pt>
    <dgm:pt modelId="{A6B671DF-475E-E34C-BD3B-36682EF621CD}" type="parTrans" cxnId="{FE88FB22-652C-7349-80C5-3DBE250A7702}">
      <dgm:prSet/>
      <dgm:spPr/>
      <dgm:t>
        <a:bodyPr/>
        <a:lstStyle/>
        <a:p>
          <a:endParaRPr lang="pl-PL"/>
        </a:p>
      </dgm:t>
    </dgm:pt>
    <dgm:pt modelId="{98DAB3AB-CC40-6447-96A0-0D5C714F86C0}" type="sibTrans" cxnId="{FE88FB22-652C-7349-80C5-3DBE250A7702}">
      <dgm:prSet/>
      <dgm:spPr/>
      <dgm:t>
        <a:bodyPr/>
        <a:lstStyle/>
        <a:p>
          <a:endParaRPr lang="pl-PL"/>
        </a:p>
      </dgm:t>
    </dgm:pt>
    <dgm:pt modelId="{3B424858-DA6B-4141-ACEC-AA4361A19A38}" type="pres">
      <dgm:prSet presAssocID="{477451C3-B023-9143-A74B-C050EF123EED}" presName="Name0" presStyleCnt="0">
        <dgm:presLayoutVars>
          <dgm:dir/>
          <dgm:resizeHandles val="exact"/>
        </dgm:presLayoutVars>
      </dgm:prSet>
      <dgm:spPr/>
    </dgm:pt>
    <dgm:pt modelId="{292D0DEC-9566-E04E-8158-F1D50AE2B205}" type="pres">
      <dgm:prSet presAssocID="{27BA8E1A-2600-9943-A9EB-5C1487EF7C85}" presName="node" presStyleLbl="node1" presStyleIdx="0" presStyleCnt="3">
        <dgm:presLayoutVars>
          <dgm:bulletEnabled val="1"/>
        </dgm:presLayoutVars>
      </dgm:prSet>
      <dgm:spPr/>
    </dgm:pt>
    <dgm:pt modelId="{1EEEE822-6AF8-1543-A819-E6D4CE1CD15A}" type="pres">
      <dgm:prSet presAssocID="{2ACC79F1-4623-1C48-BF18-F3A502C4088D}" presName="sibTrans" presStyleLbl="sibTrans2D1" presStyleIdx="0" presStyleCnt="2"/>
      <dgm:spPr/>
    </dgm:pt>
    <dgm:pt modelId="{0638D8C6-D8D2-7246-80A1-0844FD03A793}" type="pres">
      <dgm:prSet presAssocID="{2ACC79F1-4623-1C48-BF18-F3A502C4088D}" presName="connectorText" presStyleLbl="sibTrans2D1" presStyleIdx="0" presStyleCnt="2"/>
      <dgm:spPr/>
    </dgm:pt>
    <dgm:pt modelId="{21310E17-0B67-044E-B0A3-4C81E0F128CE}" type="pres">
      <dgm:prSet presAssocID="{315CCAFF-1A60-EF45-8ED0-F9557BD5AF72}" presName="node" presStyleLbl="node1" presStyleIdx="1" presStyleCnt="3">
        <dgm:presLayoutVars>
          <dgm:bulletEnabled val="1"/>
        </dgm:presLayoutVars>
      </dgm:prSet>
      <dgm:spPr/>
    </dgm:pt>
    <dgm:pt modelId="{BF9DA2BD-935E-FB40-969F-37F9C5867E5B}" type="pres">
      <dgm:prSet presAssocID="{5887A373-D7EB-FB44-90E9-588E481141C7}" presName="sibTrans" presStyleLbl="sibTrans2D1" presStyleIdx="1" presStyleCnt="2"/>
      <dgm:spPr/>
    </dgm:pt>
    <dgm:pt modelId="{93CA3EEA-577E-5A40-9A8D-99F43E94F880}" type="pres">
      <dgm:prSet presAssocID="{5887A373-D7EB-FB44-90E9-588E481141C7}" presName="connectorText" presStyleLbl="sibTrans2D1" presStyleIdx="1" presStyleCnt="2"/>
      <dgm:spPr/>
    </dgm:pt>
    <dgm:pt modelId="{0D4CBCD1-BA32-104C-8AD5-0EEF4BD4040D}" type="pres">
      <dgm:prSet presAssocID="{5B31397A-E743-7246-9E47-25A02DDB85EB}" presName="node" presStyleLbl="node1" presStyleIdx="2" presStyleCnt="3">
        <dgm:presLayoutVars>
          <dgm:bulletEnabled val="1"/>
        </dgm:presLayoutVars>
      </dgm:prSet>
      <dgm:spPr/>
    </dgm:pt>
  </dgm:ptLst>
  <dgm:cxnLst>
    <dgm:cxn modelId="{9D5BBC11-A09F-B041-9AAF-EA7ADCDC9CD9}" type="presOf" srcId="{2ACC79F1-4623-1C48-BF18-F3A502C4088D}" destId="{1EEEE822-6AF8-1543-A819-E6D4CE1CD15A}" srcOrd="0" destOrd="0" presId="urn:microsoft.com/office/officeart/2005/8/layout/process1"/>
    <dgm:cxn modelId="{1B1E1317-981E-E74E-83C5-092D7EFE230C}" type="presOf" srcId="{315CCAFF-1A60-EF45-8ED0-F9557BD5AF72}" destId="{21310E17-0B67-044E-B0A3-4C81E0F128CE}" srcOrd="0" destOrd="0" presId="urn:microsoft.com/office/officeart/2005/8/layout/process1"/>
    <dgm:cxn modelId="{FE88FB22-652C-7349-80C5-3DBE250A7702}" srcId="{477451C3-B023-9143-A74B-C050EF123EED}" destId="{5B31397A-E743-7246-9E47-25A02DDB85EB}" srcOrd="2" destOrd="0" parTransId="{A6B671DF-475E-E34C-BD3B-36682EF621CD}" sibTransId="{98DAB3AB-CC40-6447-96A0-0D5C714F86C0}"/>
    <dgm:cxn modelId="{C2BFC336-E7A7-1B43-AC7A-EE8FE48216F0}" type="presOf" srcId="{5887A373-D7EB-FB44-90E9-588E481141C7}" destId="{93CA3EEA-577E-5A40-9A8D-99F43E94F880}" srcOrd="1" destOrd="0" presId="urn:microsoft.com/office/officeart/2005/8/layout/process1"/>
    <dgm:cxn modelId="{E896E149-5E6F-B04C-896C-F24F43BE0DD2}" type="presOf" srcId="{477451C3-B023-9143-A74B-C050EF123EED}" destId="{3B424858-DA6B-4141-ACEC-AA4361A19A38}" srcOrd="0" destOrd="0" presId="urn:microsoft.com/office/officeart/2005/8/layout/process1"/>
    <dgm:cxn modelId="{54ADD55A-E49F-CD49-BD0A-186E828A8064}" type="presOf" srcId="{27BA8E1A-2600-9943-A9EB-5C1487EF7C85}" destId="{292D0DEC-9566-E04E-8158-F1D50AE2B205}" srcOrd="0" destOrd="0" presId="urn:microsoft.com/office/officeart/2005/8/layout/process1"/>
    <dgm:cxn modelId="{109FC263-1198-C145-B3B5-F2D037C1B8C7}" type="presOf" srcId="{5887A373-D7EB-FB44-90E9-588E481141C7}" destId="{BF9DA2BD-935E-FB40-969F-37F9C5867E5B}" srcOrd="0" destOrd="0" presId="urn:microsoft.com/office/officeart/2005/8/layout/process1"/>
    <dgm:cxn modelId="{1BD0A180-2B33-794E-B04A-292AB7611A28}" type="presOf" srcId="{5B31397A-E743-7246-9E47-25A02DDB85EB}" destId="{0D4CBCD1-BA32-104C-8AD5-0EEF4BD4040D}" srcOrd="0" destOrd="0" presId="urn:microsoft.com/office/officeart/2005/8/layout/process1"/>
    <dgm:cxn modelId="{5FD00D86-352D-3145-8539-19EB76F838D9}" srcId="{477451C3-B023-9143-A74B-C050EF123EED}" destId="{27BA8E1A-2600-9943-A9EB-5C1487EF7C85}" srcOrd="0" destOrd="0" parTransId="{D285DBB5-1A3B-CF49-A971-420787B99C0D}" sibTransId="{2ACC79F1-4623-1C48-BF18-F3A502C4088D}"/>
    <dgm:cxn modelId="{D8904DBD-37CD-2648-B328-816123B00243}" srcId="{477451C3-B023-9143-A74B-C050EF123EED}" destId="{315CCAFF-1A60-EF45-8ED0-F9557BD5AF72}" srcOrd="1" destOrd="0" parTransId="{E4D6D76F-F270-9948-BDEF-2421ECA01DCA}" sibTransId="{5887A373-D7EB-FB44-90E9-588E481141C7}"/>
    <dgm:cxn modelId="{0C8FCCC6-219B-2243-9997-56378C3D00AB}" type="presOf" srcId="{2ACC79F1-4623-1C48-BF18-F3A502C4088D}" destId="{0638D8C6-D8D2-7246-80A1-0844FD03A793}" srcOrd="1" destOrd="0" presId="urn:microsoft.com/office/officeart/2005/8/layout/process1"/>
    <dgm:cxn modelId="{91181531-7CBE-3942-8EF1-311A3975E0DC}" type="presParOf" srcId="{3B424858-DA6B-4141-ACEC-AA4361A19A38}" destId="{292D0DEC-9566-E04E-8158-F1D50AE2B205}" srcOrd="0" destOrd="0" presId="urn:microsoft.com/office/officeart/2005/8/layout/process1"/>
    <dgm:cxn modelId="{1B7911CF-AA79-264A-8F46-B8B82243279F}" type="presParOf" srcId="{3B424858-DA6B-4141-ACEC-AA4361A19A38}" destId="{1EEEE822-6AF8-1543-A819-E6D4CE1CD15A}" srcOrd="1" destOrd="0" presId="urn:microsoft.com/office/officeart/2005/8/layout/process1"/>
    <dgm:cxn modelId="{A4B16D55-5395-464A-A68F-6455A0E5B9E2}" type="presParOf" srcId="{1EEEE822-6AF8-1543-A819-E6D4CE1CD15A}" destId="{0638D8C6-D8D2-7246-80A1-0844FD03A793}" srcOrd="0" destOrd="0" presId="urn:microsoft.com/office/officeart/2005/8/layout/process1"/>
    <dgm:cxn modelId="{42CF9E7E-2EA2-2347-940D-8D4EE0BD50D2}" type="presParOf" srcId="{3B424858-DA6B-4141-ACEC-AA4361A19A38}" destId="{21310E17-0B67-044E-B0A3-4C81E0F128CE}" srcOrd="2" destOrd="0" presId="urn:microsoft.com/office/officeart/2005/8/layout/process1"/>
    <dgm:cxn modelId="{647A2F9F-A414-084D-8BA9-F99DD6705873}" type="presParOf" srcId="{3B424858-DA6B-4141-ACEC-AA4361A19A38}" destId="{BF9DA2BD-935E-FB40-969F-37F9C5867E5B}" srcOrd="3" destOrd="0" presId="urn:microsoft.com/office/officeart/2005/8/layout/process1"/>
    <dgm:cxn modelId="{15F4F946-B9FB-4949-97E0-11E110846B14}" type="presParOf" srcId="{BF9DA2BD-935E-FB40-969F-37F9C5867E5B}" destId="{93CA3EEA-577E-5A40-9A8D-99F43E94F880}" srcOrd="0" destOrd="0" presId="urn:microsoft.com/office/officeart/2005/8/layout/process1"/>
    <dgm:cxn modelId="{148EBAEB-F651-D841-BCF5-628C96E85C6E}" type="presParOf" srcId="{3B424858-DA6B-4141-ACEC-AA4361A19A38}" destId="{0D4CBCD1-BA32-104C-8AD5-0EEF4BD4040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26C41D-1F80-EA44-A162-0005B0F79523}" type="doc">
      <dgm:prSet loTypeId="urn:microsoft.com/office/officeart/2005/8/layout/pyramid2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pl-PL"/>
        </a:p>
      </dgm:t>
    </dgm:pt>
    <dgm:pt modelId="{1BB443BC-4758-3D4B-83CD-15B4E939305A}">
      <dgm:prSet phldrT="[Tekst]"/>
      <dgm:spPr/>
      <dgm:t>
        <a:bodyPr/>
        <a:lstStyle/>
        <a:p>
          <a:r>
            <a:rPr lang="pl-PL" dirty="0"/>
            <a:t>Service </a:t>
          </a:r>
        </a:p>
      </dgm:t>
    </dgm:pt>
    <dgm:pt modelId="{20F74629-0971-244B-AAA9-87CC7FEBDDC5}" type="parTrans" cxnId="{EC133491-43B2-C240-9790-49A658DD9FAB}">
      <dgm:prSet/>
      <dgm:spPr/>
      <dgm:t>
        <a:bodyPr/>
        <a:lstStyle/>
        <a:p>
          <a:endParaRPr lang="pl-PL"/>
        </a:p>
      </dgm:t>
    </dgm:pt>
    <dgm:pt modelId="{99EF9B5C-E645-1542-9F52-D2F0862F66A1}" type="sibTrans" cxnId="{EC133491-43B2-C240-9790-49A658DD9FAB}">
      <dgm:prSet/>
      <dgm:spPr/>
      <dgm:t>
        <a:bodyPr/>
        <a:lstStyle/>
        <a:p>
          <a:endParaRPr lang="pl-PL"/>
        </a:p>
      </dgm:t>
    </dgm:pt>
    <dgm:pt modelId="{53C62EED-F4A6-C74F-96D8-5909BF927B12}">
      <dgm:prSet phldrT="[Tekst]"/>
      <dgm:spPr/>
      <dgm:t>
        <a:bodyPr/>
        <a:lstStyle/>
        <a:p>
          <a:r>
            <a:rPr lang="pl-PL" dirty="0"/>
            <a:t>Volumen</a:t>
          </a:r>
        </a:p>
      </dgm:t>
    </dgm:pt>
    <dgm:pt modelId="{72EE0000-750F-3649-838C-D86B7154C0CA}" type="parTrans" cxnId="{6A9367C2-78B8-5D4F-B0DF-1EC1738F7460}">
      <dgm:prSet/>
      <dgm:spPr/>
      <dgm:t>
        <a:bodyPr/>
        <a:lstStyle/>
        <a:p>
          <a:endParaRPr lang="pl-PL"/>
        </a:p>
      </dgm:t>
    </dgm:pt>
    <dgm:pt modelId="{BD974321-C8EA-A84C-884F-8778028A8466}" type="sibTrans" cxnId="{6A9367C2-78B8-5D4F-B0DF-1EC1738F7460}">
      <dgm:prSet/>
      <dgm:spPr/>
      <dgm:t>
        <a:bodyPr/>
        <a:lstStyle/>
        <a:p>
          <a:endParaRPr lang="pl-PL"/>
        </a:p>
      </dgm:t>
    </dgm:pt>
    <dgm:pt modelId="{8C824B8B-D594-2840-9779-73D244180889}">
      <dgm:prSet phldrT="[Tekst]"/>
      <dgm:spPr/>
      <dgm:t>
        <a:bodyPr/>
        <a:lstStyle/>
        <a:p>
          <a:r>
            <a:rPr lang="pl-PL" dirty="0"/>
            <a:t>Network</a:t>
          </a:r>
        </a:p>
      </dgm:t>
    </dgm:pt>
    <dgm:pt modelId="{9898E50C-7C08-0740-B961-5B1F2631C080}" type="parTrans" cxnId="{1BB09073-96F1-AB46-B024-7BDB97F6B274}">
      <dgm:prSet/>
      <dgm:spPr/>
      <dgm:t>
        <a:bodyPr/>
        <a:lstStyle/>
        <a:p>
          <a:endParaRPr lang="pl-PL"/>
        </a:p>
      </dgm:t>
    </dgm:pt>
    <dgm:pt modelId="{1DD5638C-FC42-EF4F-9A9A-7BAC126C98E5}" type="sibTrans" cxnId="{1BB09073-96F1-AB46-B024-7BDB97F6B274}">
      <dgm:prSet/>
      <dgm:spPr/>
      <dgm:t>
        <a:bodyPr/>
        <a:lstStyle/>
        <a:p>
          <a:endParaRPr lang="pl-PL"/>
        </a:p>
      </dgm:t>
    </dgm:pt>
    <dgm:pt modelId="{35100C3C-45AF-D94C-9245-8F6A45DB5036}" type="pres">
      <dgm:prSet presAssocID="{B326C41D-1F80-EA44-A162-0005B0F79523}" presName="compositeShape" presStyleCnt="0">
        <dgm:presLayoutVars>
          <dgm:dir/>
          <dgm:resizeHandles/>
        </dgm:presLayoutVars>
      </dgm:prSet>
      <dgm:spPr/>
    </dgm:pt>
    <dgm:pt modelId="{05E56B4B-0045-594A-BFA2-349A697BDB53}" type="pres">
      <dgm:prSet presAssocID="{B326C41D-1F80-EA44-A162-0005B0F79523}" presName="pyramid" presStyleLbl="node1" presStyleIdx="0" presStyleCnt="1"/>
      <dgm:spPr/>
    </dgm:pt>
    <dgm:pt modelId="{532A0CD4-9BFC-0E41-B0E8-0B3BB79C37FC}" type="pres">
      <dgm:prSet presAssocID="{B326C41D-1F80-EA44-A162-0005B0F79523}" presName="theList" presStyleCnt="0"/>
      <dgm:spPr/>
    </dgm:pt>
    <dgm:pt modelId="{B1BA9E3C-8DB6-E849-A74F-80A4702B78ED}" type="pres">
      <dgm:prSet presAssocID="{1BB443BC-4758-3D4B-83CD-15B4E939305A}" presName="aNode" presStyleLbl="fgAcc1" presStyleIdx="0" presStyleCnt="3">
        <dgm:presLayoutVars>
          <dgm:bulletEnabled val="1"/>
        </dgm:presLayoutVars>
      </dgm:prSet>
      <dgm:spPr/>
    </dgm:pt>
    <dgm:pt modelId="{1A564E3A-220F-384C-9DDA-A8CC4249E8CB}" type="pres">
      <dgm:prSet presAssocID="{1BB443BC-4758-3D4B-83CD-15B4E939305A}" presName="aSpace" presStyleCnt="0"/>
      <dgm:spPr/>
    </dgm:pt>
    <dgm:pt modelId="{37BC8403-DE6E-4B44-93F8-A7552B3E9EF3}" type="pres">
      <dgm:prSet presAssocID="{53C62EED-F4A6-C74F-96D8-5909BF927B12}" presName="aNode" presStyleLbl="fgAcc1" presStyleIdx="1" presStyleCnt="3">
        <dgm:presLayoutVars>
          <dgm:bulletEnabled val="1"/>
        </dgm:presLayoutVars>
      </dgm:prSet>
      <dgm:spPr/>
    </dgm:pt>
    <dgm:pt modelId="{449BB220-B832-D448-AB5B-D40CE8AB44D7}" type="pres">
      <dgm:prSet presAssocID="{53C62EED-F4A6-C74F-96D8-5909BF927B12}" presName="aSpace" presStyleCnt="0"/>
      <dgm:spPr/>
    </dgm:pt>
    <dgm:pt modelId="{9E1CFDB7-35F9-2242-BA9C-86D22C17BB93}" type="pres">
      <dgm:prSet presAssocID="{8C824B8B-D594-2840-9779-73D244180889}" presName="aNode" presStyleLbl="fgAcc1" presStyleIdx="2" presStyleCnt="3">
        <dgm:presLayoutVars>
          <dgm:bulletEnabled val="1"/>
        </dgm:presLayoutVars>
      </dgm:prSet>
      <dgm:spPr/>
    </dgm:pt>
    <dgm:pt modelId="{51C3EB44-CD42-3942-8950-22EC9A028A7B}" type="pres">
      <dgm:prSet presAssocID="{8C824B8B-D594-2840-9779-73D244180889}" presName="aSpace" presStyleCnt="0"/>
      <dgm:spPr/>
    </dgm:pt>
  </dgm:ptLst>
  <dgm:cxnLst>
    <dgm:cxn modelId="{56B4920F-0E60-3F4D-BA9B-7E2E104AE7C4}" type="presOf" srcId="{1BB443BC-4758-3D4B-83CD-15B4E939305A}" destId="{B1BA9E3C-8DB6-E849-A74F-80A4702B78ED}" srcOrd="0" destOrd="0" presId="urn:microsoft.com/office/officeart/2005/8/layout/pyramid2"/>
    <dgm:cxn modelId="{A28C2C20-D2B6-EB49-B2CE-6D5637CC1A9F}" type="presOf" srcId="{53C62EED-F4A6-C74F-96D8-5909BF927B12}" destId="{37BC8403-DE6E-4B44-93F8-A7552B3E9EF3}" srcOrd="0" destOrd="0" presId="urn:microsoft.com/office/officeart/2005/8/layout/pyramid2"/>
    <dgm:cxn modelId="{1BB09073-96F1-AB46-B024-7BDB97F6B274}" srcId="{B326C41D-1F80-EA44-A162-0005B0F79523}" destId="{8C824B8B-D594-2840-9779-73D244180889}" srcOrd="2" destOrd="0" parTransId="{9898E50C-7C08-0740-B961-5B1F2631C080}" sibTransId="{1DD5638C-FC42-EF4F-9A9A-7BAC126C98E5}"/>
    <dgm:cxn modelId="{EC133491-43B2-C240-9790-49A658DD9FAB}" srcId="{B326C41D-1F80-EA44-A162-0005B0F79523}" destId="{1BB443BC-4758-3D4B-83CD-15B4E939305A}" srcOrd="0" destOrd="0" parTransId="{20F74629-0971-244B-AAA9-87CC7FEBDDC5}" sibTransId="{99EF9B5C-E645-1542-9F52-D2F0862F66A1}"/>
    <dgm:cxn modelId="{72F847BC-3A0E-8142-9376-D8B94D26008F}" type="presOf" srcId="{8C824B8B-D594-2840-9779-73D244180889}" destId="{9E1CFDB7-35F9-2242-BA9C-86D22C17BB93}" srcOrd="0" destOrd="0" presId="urn:microsoft.com/office/officeart/2005/8/layout/pyramid2"/>
    <dgm:cxn modelId="{6A9367C2-78B8-5D4F-B0DF-1EC1738F7460}" srcId="{B326C41D-1F80-EA44-A162-0005B0F79523}" destId="{53C62EED-F4A6-C74F-96D8-5909BF927B12}" srcOrd="1" destOrd="0" parTransId="{72EE0000-750F-3649-838C-D86B7154C0CA}" sibTransId="{BD974321-C8EA-A84C-884F-8778028A8466}"/>
    <dgm:cxn modelId="{DB2BE9D6-6341-6948-B82D-C131CB44FFB5}" type="presOf" srcId="{B326C41D-1F80-EA44-A162-0005B0F79523}" destId="{35100C3C-45AF-D94C-9245-8F6A45DB5036}" srcOrd="0" destOrd="0" presId="urn:microsoft.com/office/officeart/2005/8/layout/pyramid2"/>
    <dgm:cxn modelId="{54D01B41-E817-A549-917A-FA5E701A69F6}" type="presParOf" srcId="{35100C3C-45AF-D94C-9245-8F6A45DB5036}" destId="{05E56B4B-0045-594A-BFA2-349A697BDB53}" srcOrd="0" destOrd="0" presId="urn:microsoft.com/office/officeart/2005/8/layout/pyramid2"/>
    <dgm:cxn modelId="{047C3084-9831-0D49-AD94-52BCE3C7BB9A}" type="presParOf" srcId="{35100C3C-45AF-D94C-9245-8F6A45DB5036}" destId="{532A0CD4-9BFC-0E41-B0E8-0B3BB79C37FC}" srcOrd="1" destOrd="0" presId="urn:microsoft.com/office/officeart/2005/8/layout/pyramid2"/>
    <dgm:cxn modelId="{231B7F89-7FFE-9844-9BAA-78560ECC7D1A}" type="presParOf" srcId="{532A0CD4-9BFC-0E41-B0E8-0B3BB79C37FC}" destId="{B1BA9E3C-8DB6-E849-A74F-80A4702B78ED}" srcOrd="0" destOrd="0" presId="urn:microsoft.com/office/officeart/2005/8/layout/pyramid2"/>
    <dgm:cxn modelId="{F9C71DE7-4CF5-6C46-8AFD-B8A7735BBE2C}" type="presParOf" srcId="{532A0CD4-9BFC-0E41-B0E8-0B3BB79C37FC}" destId="{1A564E3A-220F-384C-9DDA-A8CC4249E8CB}" srcOrd="1" destOrd="0" presId="urn:microsoft.com/office/officeart/2005/8/layout/pyramid2"/>
    <dgm:cxn modelId="{2ED6C7EA-4146-4A43-955D-C7B599C3A61A}" type="presParOf" srcId="{532A0CD4-9BFC-0E41-B0E8-0B3BB79C37FC}" destId="{37BC8403-DE6E-4B44-93F8-A7552B3E9EF3}" srcOrd="2" destOrd="0" presId="urn:microsoft.com/office/officeart/2005/8/layout/pyramid2"/>
    <dgm:cxn modelId="{E283C57C-B91E-5F4E-A632-E0C16F8654E6}" type="presParOf" srcId="{532A0CD4-9BFC-0E41-B0E8-0B3BB79C37FC}" destId="{449BB220-B832-D448-AB5B-D40CE8AB44D7}" srcOrd="3" destOrd="0" presId="urn:microsoft.com/office/officeart/2005/8/layout/pyramid2"/>
    <dgm:cxn modelId="{AA469459-F62F-C04E-9C65-C28D104A5452}" type="presParOf" srcId="{532A0CD4-9BFC-0E41-B0E8-0B3BB79C37FC}" destId="{9E1CFDB7-35F9-2242-BA9C-86D22C17BB93}" srcOrd="4" destOrd="0" presId="urn:microsoft.com/office/officeart/2005/8/layout/pyramid2"/>
    <dgm:cxn modelId="{7AE923BF-F2C3-E944-A3C4-9B17B385AAAB}" type="presParOf" srcId="{532A0CD4-9BFC-0E41-B0E8-0B3BB79C37FC}" destId="{51C3EB44-CD42-3942-8950-22EC9A028A7B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A68A4-B3DB-534A-BFE2-9B6147D2C85E}">
      <dsp:nvSpPr>
        <dsp:cNvPr id="0" name=""/>
        <dsp:cNvSpPr/>
      </dsp:nvSpPr>
      <dsp:spPr>
        <a:xfrm>
          <a:off x="0" y="7279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Cele modułu</a:t>
          </a:r>
          <a:endParaRPr lang="en-US" sz="2200" kern="1200"/>
        </a:p>
      </dsp:txBody>
      <dsp:txXfrm>
        <a:off x="36439" y="109232"/>
        <a:ext cx="4958607" cy="673582"/>
      </dsp:txXfrm>
    </dsp:sp>
    <dsp:sp modelId="{692F9C13-74A1-9349-959D-5C47AE846834}">
      <dsp:nvSpPr>
        <dsp:cNvPr id="0" name=""/>
        <dsp:cNvSpPr/>
      </dsp:nvSpPr>
      <dsp:spPr>
        <a:xfrm>
          <a:off x="0" y="819254"/>
          <a:ext cx="5031485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Tworzenie Dockerfile dla aplikacji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Optymalizacja obrazów Docker</a:t>
          </a:r>
          <a:endParaRPr lang="en-US" sz="1700" kern="1200"/>
        </a:p>
      </dsp:txBody>
      <dsp:txXfrm>
        <a:off x="0" y="819254"/>
        <a:ext cx="5031485" cy="910800"/>
      </dsp:txXfrm>
    </dsp:sp>
    <dsp:sp modelId="{CB27C405-498B-9E41-9AA2-52D385183659}">
      <dsp:nvSpPr>
        <dsp:cNvPr id="0" name=""/>
        <dsp:cNvSpPr/>
      </dsp:nvSpPr>
      <dsp:spPr>
        <a:xfrm>
          <a:off x="0" y="173005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66493"/>
        <a:ext cx="4958607" cy="673582"/>
      </dsp:txXfrm>
    </dsp:sp>
    <dsp:sp modelId="{1AEEFC98-3911-F248-97E9-8EEA327C0E5C}">
      <dsp:nvSpPr>
        <dsp:cNvPr id="0" name=""/>
        <dsp:cNvSpPr/>
      </dsp:nvSpPr>
      <dsp:spPr>
        <a:xfrm>
          <a:off x="0" y="2476514"/>
          <a:ext cx="5031485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Struktura Dockerfile i instrukcje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Best practices: warstwy, cache, minimalizacja rozmiaru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Multi-stage builds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Utworzenie Dockerfile dla aplikacji Python</a:t>
          </a:r>
          <a:endParaRPr lang="en-US" sz="1700" kern="1200"/>
        </a:p>
      </dsp:txBody>
      <dsp:txXfrm>
        <a:off x="0" y="2476514"/>
        <a:ext cx="5031485" cy="2595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4DBBE-833B-694B-BFF8-0608C17BD5C7}">
      <dsp:nvSpPr>
        <dsp:cNvPr id="0" name=""/>
        <dsp:cNvSpPr/>
      </dsp:nvSpPr>
      <dsp:spPr>
        <a:xfrm>
          <a:off x="0" y="48265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Cele modułu</a:t>
          </a:r>
          <a:endParaRPr lang="en-US" sz="2200" kern="1200"/>
        </a:p>
      </dsp:txBody>
      <dsp:txXfrm>
        <a:off x="36439" y="519092"/>
        <a:ext cx="4958607" cy="673582"/>
      </dsp:txXfrm>
    </dsp:sp>
    <dsp:sp modelId="{7FE6417F-DB76-8E4C-9CA3-15DF798E9D29}">
      <dsp:nvSpPr>
        <dsp:cNvPr id="0" name=""/>
        <dsp:cNvSpPr/>
      </dsp:nvSpPr>
      <dsp:spPr>
        <a:xfrm>
          <a:off x="0" y="1229114"/>
          <a:ext cx="5031485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Orkiestracja wielu kontenerów lokalnie</a:t>
          </a:r>
          <a:endParaRPr lang="en-US" sz="1700" kern="1200"/>
        </a:p>
      </dsp:txBody>
      <dsp:txXfrm>
        <a:off x="0" y="1229114"/>
        <a:ext cx="5031485" cy="455400"/>
      </dsp:txXfrm>
    </dsp:sp>
    <dsp:sp modelId="{B1FC3CC5-B828-3140-ADE1-9317C6B3B000}">
      <dsp:nvSpPr>
        <dsp:cNvPr id="0" name=""/>
        <dsp:cNvSpPr/>
      </dsp:nvSpPr>
      <dsp:spPr>
        <a:xfrm>
          <a:off x="0" y="168451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20953"/>
        <a:ext cx="4958607" cy="673582"/>
      </dsp:txXfrm>
    </dsp:sp>
    <dsp:sp modelId="{02BF8163-418E-0144-AFC3-64FAB120FED8}">
      <dsp:nvSpPr>
        <dsp:cNvPr id="0" name=""/>
        <dsp:cNvSpPr/>
      </dsp:nvSpPr>
      <dsp:spPr>
        <a:xfrm>
          <a:off x="0" y="2430974"/>
          <a:ext cx="5031485" cy="223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docker-compose.yml: services, volumes, networks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Komendy: compose up, down, logs, exec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Linking kontenerów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Aplikacja multi-tier (web + database)</a:t>
          </a:r>
          <a:endParaRPr lang="en-US" sz="1700" kern="1200"/>
        </a:p>
      </dsp:txBody>
      <dsp:txXfrm>
        <a:off x="0" y="2430974"/>
        <a:ext cx="5031485" cy="2231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393C7-C9E0-1F48-8459-BBD290808506}">
      <dsp:nvSpPr>
        <dsp:cNvPr id="0" name=""/>
        <dsp:cNvSpPr/>
      </dsp:nvSpPr>
      <dsp:spPr>
        <a:xfrm>
          <a:off x="0" y="66291"/>
          <a:ext cx="5031485" cy="7803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Cele modułu</a:t>
          </a:r>
          <a:endParaRPr lang="en-US" sz="2300" kern="1200"/>
        </a:p>
      </dsp:txBody>
      <dsp:txXfrm>
        <a:off x="38095" y="104386"/>
        <a:ext cx="4955295" cy="704200"/>
      </dsp:txXfrm>
    </dsp:sp>
    <dsp:sp modelId="{A5FEBF0B-AB78-5046-BB0B-5BDB84DD078C}">
      <dsp:nvSpPr>
        <dsp:cNvPr id="0" name=""/>
        <dsp:cNvSpPr/>
      </dsp:nvSpPr>
      <dsp:spPr>
        <a:xfrm>
          <a:off x="0" y="846681"/>
          <a:ext cx="5031485" cy="97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Strategie testowania kontenery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Health checks i diagnostyka</a:t>
          </a:r>
          <a:endParaRPr lang="en-US" sz="1800" kern="1200"/>
        </a:p>
      </dsp:txBody>
      <dsp:txXfrm>
        <a:off x="0" y="846681"/>
        <a:ext cx="5031485" cy="976005"/>
      </dsp:txXfrm>
    </dsp:sp>
    <dsp:sp modelId="{3DEB5635-6C90-E54B-BCED-0AD74D23981C}">
      <dsp:nvSpPr>
        <dsp:cNvPr id="0" name=""/>
        <dsp:cNvSpPr/>
      </dsp:nvSpPr>
      <dsp:spPr>
        <a:xfrm>
          <a:off x="0" y="1822686"/>
          <a:ext cx="5031485" cy="78039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Zawartość</a:t>
          </a:r>
          <a:endParaRPr lang="en-US" sz="2300" kern="1200"/>
        </a:p>
      </dsp:txBody>
      <dsp:txXfrm>
        <a:off x="38095" y="1860781"/>
        <a:ext cx="4955295" cy="704200"/>
      </dsp:txXfrm>
    </dsp:sp>
    <dsp:sp modelId="{9FF076E9-0957-6B4E-A57A-A894A86C6074}">
      <dsp:nvSpPr>
        <dsp:cNvPr id="0" name=""/>
        <dsp:cNvSpPr/>
      </dsp:nvSpPr>
      <dsp:spPr>
        <a:xfrm>
          <a:off x="0" y="2603076"/>
          <a:ext cx="5031485" cy="247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Unit testy w Docker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Integration testy dla kontenerów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Health checks: CMD, HTTP, TCP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Monitorowanie logów i metryki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LAB: Implementacja health checks</a:t>
          </a:r>
          <a:endParaRPr lang="en-US" sz="1800" kern="1200"/>
        </a:p>
      </dsp:txBody>
      <dsp:txXfrm>
        <a:off x="0" y="2603076"/>
        <a:ext cx="5031485" cy="24757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AA2B0-587D-B247-A5B3-C53D049005F7}">
      <dsp:nvSpPr>
        <dsp:cNvPr id="0" name=""/>
        <dsp:cNvSpPr/>
      </dsp:nvSpPr>
      <dsp:spPr>
        <a:xfrm>
          <a:off x="0" y="7279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Cele modułu</a:t>
          </a:r>
          <a:endParaRPr lang="en-US" sz="2200" kern="1200"/>
        </a:p>
      </dsp:txBody>
      <dsp:txXfrm>
        <a:off x="36439" y="109232"/>
        <a:ext cx="4958607" cy="673582"/>
      </dsp:txXfrm>
    </dsp:sp>
    <dsp:sp modelId="{3BD9B40E-DE0E-2F44-B2E8-490611F50A50}">
      <dsp:nvSpPr>
        <dsp:cNvPr id="0" name=""/>
        <dsp:cNvSpPr/>
      </dsp:nvSpPr>
      <dsp:spPr>
        <a:xfrm>
          <a:off x="0" y="819254"/>
          <a:ext cx="5031485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Architektura Kubernetes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Setup Minikube</a:t>
          </a:r>
          <a:endParaRPr lang="en-US" sz="1700" kern="1200"/>
        </a:p>
      </dsp:txBody>
      <dsp:txXfrm>
        <a:off x="0" y="819254"/>
        <a:ext cx="5031485" cy="910800"/>
      </dsp:txXfrm>
    </dsp:sp>
    <dsp:sp modelId="{E48926AE-E84D-084A-8B12-B0EA8061B041}">
      <dsp:nvSpPr>
        <dsp:cNvPr id="0" name=""/>
        <dsp:cNvSpPr/>
      </dsp:nvSpPr>
      <dsp:spPr>
        <a:xfrm>
          <a:off x="0" y="173005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66493"/>
        <a:ext cx="4958607" cy="673582"/>
      </dsp:txXfrm>
    </dsp:sp>
    <dsp:sp modelId="{5D84E03A-E03A-3244-B5AD-C1C99439B00D}">
      <dsp:nvSpPr>
        <dsp:cNvPr id="0" name=""/>
        <dsp:cNvSpPr/>
      </dsp:nvSpPr>
      <dsp:spPr>
        <a:xfrm>
          <a:off x="0" y="2476514"/>
          <a:ext cx="5031485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Kubernetes: Control Plane, Worker Nodes, etcd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kubectl: podstawowe komendy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Przegląd klastra: nodes, namespaces, resources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pierwsza komenda kubectl</a:t>
          </a:r>
          <a:endParaRPr lang="en-US" sz="1700" kern="1200"/>
        </a:p>
      </dsp:txBody>
      <dsp:txXfrm>
        <a:off x="0" y="2476514"/>
        <a:ext cx="5031485" cy="2595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86244-BA9A-D542-B706-0AE56F883E1D}">
      <dsp:nvSpPr>
        <dsp:cNvPr id="0" name=""/>
        <dsp:cNvSpPr/>
      </dsp:nvSpPr>
      <dsp:spPr>
        <a:xfrm rot="5400000">
          <a:off x="-202187" y="203803"/>
          <a:ext cx="1347918" cy="94354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Obraz</a:t>
          </a:r>
        </a:p>
      </dsp:txBody>
      <dsp:txXfrm rot="-5400000">
        <a:off x="1" y="473386"/>
        <a:ext cx="943542" cy="404376"/>
      </dsp:txXfrm>
    </dsp:sp>
    <dsp:sp modelId="{5F539A4F-B2F0-6B42-98B3-DF2D2F3B0637}">
      <dsp:nvSpPr>
        <dsp:cNvPr id="0" name=""/>
        <dsp:cNvSpPr/>
      </dsp:nvSpPr>
      <dsp:spPr>
        <a:xfrm rot="5400000">
          <a:off x="4418983" y="-3473824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obraz (image)</a:t>
          </a:r>
          <a:r>
            <a:rPr lang="pl-PL" sz="2200" b="0" kern="1200" baseline="0" dirty="0"/>
            <a:t> to gotowy „szablon” aplikacji,</a:t>
          </a:r>
          <a:endParaRPr lang="pl-PL" sz="2200" kern="1200" dirty="0"/>
        </a:p>
      </dsp:txBody>
      <dsp:txXfrm rot="-5400000">
        <a:off x="943543" y="44386"/>
        <a:ext cx="7784258" cy="790607"/>
      </dsp:txXfrm>
    </dsp:sp>
    <dsp:sp modelId="{E5BC01D0-27AE-3849-93A3-F9A3EADDDE6D}">
      <dsp:nvSpPr>
        <dsp:cNvPr id="0" name=""/>
        <dsp:cNvSpPr/>
      </dsp:nvSpPr>
      <dsp:spPr>
        <a:xfrm rot="5400000">
          <a:off x="-202187" y="1353980"/>
          <a:ext cx="1347918" cy="943542"/>
        </a:xfrm>
        <a:prstGeom prst="chevron">
          <a:avLst/>
        </a:prstGeom>
        <a:solidFill>
          <a:schemeClr val="accent3">
            <a:hueOff val="477308"/>
            <a:satOff val="11626"/>
            <a:lumOff val="4608"/>
            <a:alphaOff val="0"/>
          </a:schemeClr>
        </a:solidFill>
        <a:ln w="12700" cap="flat" cmpd="sng" algn="ctr">
          <a:solidFill>
            <a:schemeClr val="accent3">
              <a:hueOff val="477308"/>
              <a:satOff val="11626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Registery</a:t>
          </a:r>
          <a:endParaRPr lang="pl-PL" sz="1200" kern="1200" dirty="0"/>
        </a:p>
      </dsp:txBody>
      <dsp:txXfrm rot="-5400000">
        <a:off x="1" y="1623563"/>
        <a:ext cx="943542" cy="404376"/>
      </dsp:txXfrm>
    </dsp:sp>
    <dsp:sp modelId="{4982FB30-D108-8E4A-85DE-26197CB1B5AB}">
      <dsp:nvSpPr>
        <dsp:cNvPr id="0" name=""/>
        <dsp:cNvSpPr/>
      </dsp:nvSpPr>
      <dsp:spPr>
        <a:xfrm rot="5400000">
          <a:off x="4418983" y="-2323647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77308"/>
              <a:satOff val="11626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registry</a:t>
          </a:r>
          <a:r>
            <a:rPr lang="pl-PL" sz="2200" b="0" kern="1200" baseline="0" dirty="0"/>
            <a:t> to magazyn tych obrazów,</a:t>
          </a:r>
          <a:endParaRPr lang="pl-PL" sz="2200" kern="1200" dirty="0"/>
        </a:p>
      </dsp:txBody>
      <dsp:txXfrm rot="-5400000">
        <a:off x="943543" y="1194563"/>
        <a:ext cx="7784258" cy="790607"/>
      </dsp:txXfrm>
    </dsp:sp>
    <dsp:sp modelId="{BAB28CD5-C131-1742-A241-AEE935232D5E}">
      <dsp:nvSpPr>
        <dsp:cNvPr id="0" name=""/>
        <dsp:cNvSpPr/>
      </dsp:nvSpPr>
      <dsp:spPr>
        <a:xfrm rot="5400000">
          <a:off x="-202187" y="2504157"/>
          <a:ext cx="1347918" cy="943542"/>
        </a:xfrm>
        <a:prstGeom prst="chevron">
          <a:avLst/>
        </a:prstGeom>
        <a:solidFill>
          <a:schemeClr val="accent3">
            <a:hueOff val="954616"/>
            <a:satOff val="23252"/>
            <a:lumOff val="9215"/>
            <a:alphaOff val="0"/>
          </a:schemeClr>
        </a:solidFill>
        <a:ln w="12700" cap="flat" cmpd="sng" algn="ctr">
          <a:solidFill>
            <a:schemeClr val="accent3">
              <a:hueOff val="954616"/>
              <a:satOff val="23252"/>
              <a:lumOff val="9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Docker Hub</a:t>
          </a:r>
        </a:p>
      </dsp:txBody>
      <dsp:txXfrm rot="-5400000">
        <a:off x="1" y="2773740"/>
        <a:ext cx="943542" cy="404376"/>
      </dsp:txXfrm>
    </dsp:sp>
    <dsp:sp modelId="{C9E00AF1-3095-0745-A8AD-34E4EB36C5D0}">
      <dsp:nvSpPr>
        <dsp:cNvPr id="0" name=""/>
        <dsp:cNvSpPr/>
      </dsp:nvSpPr>
      <dsp:spPr>
        <a:xfrm rot="5400000">
          <a:off x="4418983" y="-1173470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954616"/>
              <a:satOff val="23252"/>
              <a:lumOff val="9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Docker Hub</a:t>
          </a:r>
          <a:r>
            <a:rPr lang="pl-PL" sz="2200" b="0" kern="1200" baseline="0" dirty="0"/>
            <a:t> to najpopularniejsze publiczne registry.</a:t>
          </a:r>
          <a:endParaRPr lang="pl-PL" sz="2200" kern="1200" dirty="0"/>
        </a:p>
      </dsp:txBody>
      <dsp:txXfrm rot="-5400000">
        <a:off x="943543" y="2344740"/>
        <a:ext cx="7784258" cy="7906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D0DEC-9566-E04E-8158-F1D50AE2B205}">
      <dsp:nvSpPr>
        <dsp:cNvPr id="0" name=""/>
        <dsp:cNvSpPr/>
      </dsp:nvSpPr>
      <dsp:spPr>
        <a:xfrm>
          <a:off x="7708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 dirty="0"/>
            <a:t>- Tworzysz obraz aplikacji </a:t>
          </a:r>
          <a:endParaRPr lang="pl-PL" sz="2300" kern="1200" dirty="0"/>
        </a:p>
      </dsp:txBody>
      <dsp:txXfrm>
        <a:off x="48197" y="1175044"/>
        <a:ext cx="2223009" cy="1301414"/>
      </dsp:txXfrm>
    </dsp:sp>
    <dsp:sp modelId="{1EEEE822-6AF8-1543-A819-E6D4CE1CD15A}">
      <dsp:nvSpPr>
        <dsp:cNvPr id="0" name=""/>
        <dsp:cNvSpPr/>
      </dsp:nvSpPr>
      <dsp:spPr>
        <a:xfrm>
          <a:off x="2542095" y="1540057"/>
          <a:ext cx="488445" cy="5713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2542095" y="1654335"/>
        <a:ext cx="341912" cy="342832"/>
      </dsp:txXfrm>
    </dsp:sp>
    <dsp:sp modelId="{21310E17-0B67-044E-B0A3-4C81E0F128CE}">
      <dsp:nvSpPr>
        <dsp:cNvPr id="0" name=""/>
        <dsp:cNvSpPr/>
      </dsp:nvSpPr>
      <dsp:spPr>
        <a:xfrm>
          <a:off x="3233291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/>
            <a:t>- Wysyłasz do registery </a:t>
          </a:r>
          <a:endParaRPr lang="pl-PL" sz="2300" kern="1200"/>
        </a:p>
      </dsp:txBody>
      <dsp:txXfrm>
        <a:off x="3273780" y="1175044"/>
        <a:ext cx="2223009" cy="1301414"/>
      </dsp:txXfrm>
    </dsp:sp>
    <dsp:sp modelId="{BF9DA2BD-935E-FB40-969F-37F9C5867E5B}">
      <dsp:nvSpPr>
        <dsp:cNvPr id="0" name=""/>
        <dsp:cNvSpPr/>
      </dsp:nvSpPr>
      <dsp:spPr>
        <a:xfrm>
          <a:off x="5767678" y="1540057"/>
          <a:ext cx="488445" cy="5713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5767678" y="1654335"/>
        <a:ext cx="341912" cy="342832"/>
      </dsp:txXfrm>
    </dsp:sp>
    <dsp:sp modelId="{0D4CBCD1-BA32-104C-8AD5-0EEF4BD4040D}">
      <dsp:nvSpPr>
        <dsp:cNvPr id="0" name=""/>
        <dsp:cNvSpPr/>
      </dsp:nvSpPr>
      <dsp:spPr>
        <a:xfrm>
          <a:off x="6458874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/>
            <a:t>- Potem </a:t>
          </a:r>
          <a:r>
            <a:rPr lang="pl-PL" sz="2300" b="1" kern="1200" baseline="0"/>
            <a:t>run anyware </a:t>
          </a:r>
          <a:endParaRPr lang="pl-PL" sz="2300" kern="1200"/>
        </a:p>
      </dsp:txBody>
      <dsp:txXfrm>
        <a:off x="6499363" y="1175044"/>
        <a:ext cx="2223009" cy="13014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56B4B-0045-594A-BFA2-349A697BDB53}">
      <dsp:nvSpPr>
        <dsp:cNvPr id="0" name=""/>
        <dsp:cNvSpPr/>
      </dsp:nvSpPr>
      <dsp:spPr>
        <a:xfrm>
          <a:off x="2285206" y="0"/>
          <a:ext cx="3651250" cy="3651250"/>
        </a:xfrm>
        <a:prstGeom prst="triangle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A9E3C-8DB6-E849-A74F-80A4702B78ED}">
      <dsp:nvSpPr>
        <dsp:cNvPr id="0" name=""/>
        <dsp:cNvSpPr/>
      </dsp:nvSpPr>
      <dsp:spPr>
        <a:xfrm>
          <a:off x="4110831" y="367086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Service </a:t>
          </a:r>
        </a:p>
      </dsp:txBody>
      <dsp:txXfrm>
        <a:off x="4153024" y="409279"/>
        <a:ext cx="2288926" cy="779933"/>
      </dsp:txXfrm>
    </dsp:sp>
    <dsp:sp modelId="{37BC8403-DE6E-4B44-93F8-A7552B3E9EF3}">
      <dsp:nvSpPr>
        <dsp:cNvPr id="0" name=""/>
        <dsp:cNvSpPr/>
      </dsp:nvSpPr>
      <dsp:spPr>
        <a:xfrm>
          <a:off x="4110831" y="1339445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Volumen</a:t>
          </a:r>
        </a:p>
      </dsp:txBody>
      <dsp:txXfrm>
        <a:off x="4153024" y="1381638"/>
        <a:ext cx="2288926" cy="779933"/>
      </dsp:txXfrm>
    </dsp:sp>
    <dsp:sp modelId="{9E1CFDB7-35F9-2242-BA9C-86D22C17BB93}">
      <dsp:nvSpPr>
        <dsp:cNvPr id="0" name=""/>
        <dsp:cNvSpPr/>
      </dsp:nvSpPr>
      <dsp:spPr>
        <a:xfrm>
          <a:off x="4110831" y="2311804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Network</a:t>
          </a:r>
        </a:p>
      </dsp:txBody>
      <dsp:txXfrm>
        <a:off x="4153024" y="2353997"/>
        <a:ext cx="2288926" cy="779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9:12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1050 95 24575,'-11'-8'0,"-1"-3"0,-4 2 0,3-2 0,2 3 0,0 3 0,2-2 0,-3 3 0,1-4 0,2 0 0,-2 4 0,6-3 0,-2 6 0,3-3 0,-4 4 0,0 0 0,-10 0 0,4 0 0,-14 0 0,-7 0 0,-10 0 0,-11 0 0,12 0 0,9 0 0,16 0 0,8 0 0,-1 0 0,-6 0 0,4 0 0,-7 0 0,8 4 0,-3-4 0,1 4 0,6-1 0,-2-2 0,7 3 0,-4-4 0,0 0 0,0 0 0,0 0 0,4 3 0,-3-2 0,2 2 0,-2 1 0,-5-3 0,3 6 0,-6-3 0,-26 15 0,18-9 0,-23 9 0,31-11 0,-1 0 0,3 0 0,-1-1 0,1 1 0,4 0 0,-1-4 0,6 3 0,-1-3 0,-2 1 0,3 5 0,-1-5 0,-2 3 0,6-1 0,-2-3 0,-1 4 0,3 0 0,-2 0 0,3 0 0,-4-1 0,4 1 0,-4 0 0,1 0 0,2-1 0,-3 1 0,4 0 0,-3-4 0,2 3 0,-3-3 0,1 4 0,2 0 0,-6 0 0,2 0 0,1-1 0,-3 5 0,6-4 0,-6 4 0,6-5 0,-6-2 0,6 2 0,-6-3 0,3 4 0,-1 0 0,-2-1 0,3 5 0,-4-4 0,4 7 0,0-6 0,1 2 0,2-3 0,-3 3 0,4-2 0,0 2 0,0-3 0,0 0 0,0-1 0,0 1 0,0 0 0,0 0 0,0-1 0,4 1 0,-3 0 0,6 0 0,-7 0 0,7-1 0,-6 1 0,3 0 0,-1 0 0,-2-1 0,6 5 0,-3 0 0,4 0 0,0 3 0,-4-6 0,3 2 0,-3-3 0,1-1 0,2 1 0,-7 0 0,7 3 0,-6 1 0,6 1 0,-6-2 0,2-3 0,-3-1 0,0 1 0,4 0 0,-3 0 0,2 0 0,-3 3 0,0 1 0,0 4 0,0-4 0,0 3 0,4-7 0,-4 4 0,7-5 0,-6 1 0,6 0 0,-6 3 0,2-2 0,1 2 0,0-3 0,1 3 0,5-2 0,-4 12 0,9-7 0,-2 8 0,3-7 0,0 1 0,-1-4 0,7 5 0,2-2 0,6 0 0,-7-1 0,6-5 0,-15-4 0,7-1 0,-16 0 0,5-4 0,-5 4 0,2-4 0,1 0 0,0 0 0,3 0 0,1 3 0,4 2 0,6-1 0,2 4 0,-1-7 0,-1 7 0,0-7 0,-4 2 0,10-3 0,-5 5 0,1-4 0,4 3 0,-10-4 0,4 0 0,-7 0 0,-3 0 0,0 0 0,-4 0 0,-4-3 0,6-2 0,-5-3 0,7 0 0,-4 4 0,-1-3 0,1 3 0,0-8 0,0 3 0,-1-6 0,1 7 0,0-7 0,0 6 0,0-3 0,-1 5 0,1-1 0,0-4 0,0 3 0,-1-2 0,1 3 0,0 0 0,0 0 0,0 0 0,-1 0 0,1 4 0,0-3 0,0 3 0,-1-1 0,1-2 0,0 3 0,0-4 0,3 0 0,-2 0 0,2 0 0,-3 0 0,0 0 0,-1 0 0,1-3 0,0-1 0,3-4 0,-6 0 0,6 0 0,-7 4 0,0-3 0,3 6 0,-6-2 0,3 3 0,-4 0 0,0 0 0,3-3 0,-2 2 0,2-6 0,1 3 0,-3-1 0,2-8 0,1 7 0,-3-8 0,2 0 0,0 4 0,-2-10 0,3 11 0,-4-6 0,3 8 0,-2-1 0,3 0 0,-4 0 0,0 0 0,0 1 0,0-1 0,0 3 0,0 2 0,0 3 0,0 0 0,0 0 0,0-3 0,-4 2 0,0-2 0,-1 3 0,-2 0 0,3 0 0,-1 0 0,-2-3 0,3 2 0,-4-3 0,4 4 0,-3 4 0,6-3 0,-6 6 0,2-6 0,-3-1 0,1 3 0,2-6 0,-2 10 0,6-6 0,-6 3 0,6-4 0,-6-3 0,6 2 0,-2-3 0,-1 5 0,4-1 0,-4 0 0,4 0 0,-4 0 0,4 0 0,-4 0 0,4 0 0,-3 0 0,2 0 0,-6 0 0,2 1 0,1-1 0,-3 0 0,6 3 0,-3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7:25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47 24575,'77'0'0,"0"0"0,1 0 0,3 0 0,7 0 0,-3 0 0,-14 0 0,-14 0 0,0 0-1933,23 2 0,11 2 0,-8-1 1933,-11-2 0,-4 0 0,1 4 0,4 0-90,-4-2 0,5 1 1,-8-2 89,-11-1 0,1 1 0,15 1 0,9 1 0,-7-2 0,-12-2 0,0 0 0,14 3 0,9 1 0,-8-1 0,-12-2 0,-3 0 0,26 4 0,3 0 0,1-4 0,-4-2-396,-20 1 1,2 0 395,12 0 0,9 0 0,-11 0 0,-15 0 0,-2 0 0,24 0 0,2 0-480,-15 0 0,-4 0 480,-14 0 0,-2 0 0,11 0 0,0 0 0,-11 0 0,-4 0 0,16 0 929,-15 0 1,2 0-930,18 0 0,-2 0 0,3 0 0,26 7 0,-25-6 0,7 0 0,11 7 0,-1 1 0,-25-4 0,0 0 276,28 0 1,-6 1-277,-4 9 0,-15-14 2307,24 14-2307,-38-13 0,23 11 0,1 1 0,0 2-956,15 1 0,6 1 956,-30-7 0,1-1 0,-3-2 0,5-1 0,-5 0-431,4 2 1,-3-1 430,-2-7 0,4 0 0,-4 5 0,5 1 0,-5-2 0,-1-3 0,0-1 0,32 8 0,-3 0 0,3-7 227,-15 6-227,-13-8 28,-24 0-28,-3 0 3104,-11 0-3104,35-8 0,-2 6 0,8-6 1627,-5 1-1627,-34 6 887,21-12-887,-20 12 0,9-10 0,-13 10 0,16-4 0,-11 5 0,4 0 0,-9 0 0,6-6 0,9 5 0,0-6 0,-2 7 0,-1 0 0,-14 0 0,13 0 0,-17 0 0,7 0 0,0 0 0,0 0 0,11 0 0,3-6 0,1 5 0,-4-6 0,-17 7 0,-6 0 0,-3 0 0,-6 0 0,2 0 0,0 0 0,-2 0 0,12 0 0,-7 4 0,14-3 0,-4 6 0,19 3 0,-16 0 0,8 0 0,-19-3 0,-4-6 0,9 7 0,-7-7 0,8 7 0,0-7 0,-5 6 0,11-7 0,-10 7 0,0-6 0,-3 6 0,-3-3 0,4 1 0,-4 2 0,3-3 0,-7 0 0,4 3 0,-4-6 0,-4 6 0,-1-3 0,-3 8 0,0 6 0,0 6 0,0 6 0,-4-1 0,-1-5 0,-4-2 0,5-6 0,-3-4 0,6-1 0,-2-3 0,-1 0 0,3 0 0,-6 3 0,3 1 0,-4 4 0,-6 6 0,2-5 0,-18 17 0,10-10 0,-15 7 0,16-8 0,-3-6 0,6-5 0,4 0 0,-3-4 0,10-1 0,-6-2 0,7-2 0,-1 1 0,-2-4 0,3 4 0,-4-4 0,-3 0 0,-2 0 0,-9 4 0,-2-3 0,-6 4 0,-34 3 0,25-6 0,-25 10 0,11-4 0,17-1 0,-11 3 0,19-4 0,-7-2 0,8 4 0,-3-7 0,15 2 0,-15 3 0,3-4 0,-8 8 0,13-9 0,6 5 0,-29 10 0,15-9 0,-23 12 0,-11-10 0,25-3 0,-19 2 0,30-8 0,-19 0 0,17 0 0,-21 0 0,34 0 0,-12 0 0,-6 0 0,2 5 0,-20-4 0,-16 9 0,7-2 0,-19 0 0,13-2 0,10 0 0,-10-4 0,12 4 0,0-6 0,-11 0 0,20 0 0,-43 0 0,51 0 0,-39 0 0,45 0 0,-20 0 0,20 0 0,-33 0 0,30 0 0,-19 0 0,25 4 0,6-3 0,-4 4 0,4-1 0,-18-3 0,-4 8 0,-10-8 0,10 8 0,10-8 0,8 8 0,4-8 0,-6 8 0,0-8 0,6 7 0,2-7 0,6 2 0,-6-3 0,5 0 0,-5 0 0,6 0 0,0 4 0,-6-4 0,5 4 0,-23-4 0,13 4 0,-26-3 0,9 4 0,-24-5 0,-2 7 0,-12-5 0,0 5 0,1 0 0,10-5 0,4 5 0,22-7 0,4 0 0,17 0 0,-4 0 0,10 0 0,-10 0 0,10 0 0,-4 0 0,0 0 0,-2 0 0,-17 0 0,-15 0 0,-14 0 0,18 0 0,-1 0 0,-35 0 0,29 0 0,2 0 0,-16 0 0,-6 0 0,23 0 0,12 0 0,2 0 0,12 0 0,6 0 0,-4-4 0,4 3 0,-17-4 0,-4 5 0,-22 0 0,-3 0 0,-12 0 0,11 0 0,-7 0 0,19-6 0,-9 4 0,12-4 0,18 6 0,-2 0 0,17 0 0,-1 0 0,-5 0 0,16 0 0,-9 0 0,14 0 0,-7-3 0,2 2 0,-3-6 0,4 6 0,-3-6 0,6 6 0,-2-6 0,0 6 0,-31-17 0,12 14 0,-16-10 0,24 10 0,-24 3 0,17-2 0,-18 3 0,-4 0 0,21-5 0,-23 4 0,30-3 0,-40 4 0,30 0 0,-25-4 0,36 3 0,6-2 0,-17 3 0,12-4 0,-12 4 0,17-4 0,0 4 0,-6 0 0,8 0 0,-7 0 0,2 0 0,2 0 0,-5 0 0,-8 0 0,11 0 0,-16 0 0,-23 0 0,25-3 0,-30 2 0,40-3 0,-7 0 0,-7 3 0,5-4 0,-5 5 0,7-4 0,0 2 0,-12-2 0,9 4 0,-20 0 0,-5 0 0,11 0 0,-20 0 0,34 0 0,-54 0 0,52 0 0,-34 0 0,47 0 0,8 0 0,-7 0 0,9 0 0,-1-4 0,2 4 0,3-4 0,0 4 0,0 0 0,0 0 0,0 0 0,0 0 0,1-3 0,-5 2 0,0-3 0,-4 1 0,0 2 0,0-6 0,4 6 0,-3-6 0,3 6 0,-4-3 0,0 1 0,-6 2 0,8-2 0,-7 3 0,9 0 0,-1-4 0,-2 3 0,3-6 0,-4 6 0,0-6 0,-6 2 0,5-3 0,-12-2 0,12 2 0,-11 2 0,10-1 0,0 6 0,3-6 0,-4 2 0,-5 0 0,1-3 0,4 8 0,7-4 0,5 4 0,-1 0 0,3-3 0,-2 2 0,-1-6 0,-45-18 0,21 11 0,-26-11 0,36 17 0,-12 1 0,14-2 0,-10 2 0,18 0 0,4 6 0,4-6 0,-3 6 0,6-6 0,-6 3 0,6-4 0,-6 0 0,3 0 0,-4 0 0,3 0 0,-2-3 0,-12-13 0,7 5 0,-11-8 0,12 11 0,2 0 0,-6 4 0,3-3 0,-1 6 0,2-2 0,-1 3 0,4 0 0,-4 0 0,4 4 0,4-4 0,-3 8 0,6-7 0,-6 2 0,6-3 0,-6 0 0,6 0 0,-6-3 0,6 2 0,-2-2 0,-1 3 0,3 0 0,-2 0 0,3 0 0,-4-3 0,3 2 0,-2-6 0,3 6 0,0-2 0,0 3 0,0 0 0,0 0 0,3 4 0,-2-3 0,6 6 0,-6-6 0,6 6 0,-6-6 0,6 2 0,-3-3 0,4 1 0,0-1 0,-1 0 0,-2 0 0,2 0 0,-3 0 0,4 0 0,-4 0 0,3 4 0,-6-3 0,6 6 0,-3-6 0,4 6 0,0-6 0,3 3 0,1-1 0,4-2 0,-1 6 0,-2-6 0,1 6 0,-5-6 0,2 6 0,-3-6 0,3 7 0,2-8 0,-1 8 0,-1-7 0,-3 6 0,0-3 0,-4 1 0,3 2 0,-6-6 0,6 6 0,-3-10 0,7 6 0,-2-6 0,2 3 0,-3 0 0,0 0 0,-4 0 0,-1 0 0,-3 0 0,0 0 0,0 0 0,0 0 0,4 1 0,-3-5 0,2 3 0,1-2 0,-3 3 0,5 4 0,-5-3 0,6 6 0,-2-6 0,2 6 0,1-6 0,0 6 0,0-6 0,3 2 0,-2-2 0,2 2 0,-3-2 0,-4 6 0,-1-2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7:38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7503 60 24575,'-16'0'0,"0"0"0,4 0 0,-9 0 0,-47 0 0,14 0 0,2 0 0,1 0 0,10 0 0,-34 0 0,34 0 0,-8 0 0,-3 0 0,14 0 0,0 0 0,-14-6 0,36 4 0,-23-8 0,25 9 0,-15-4 0,15 5 0,-13 0 0,13 0 0,-26 0 0,20 0 0,-14 0 0,-11 0 0,22 0 0,-52 0 0,45 0 0,-46 0 0,46 0 0,-15 0 0,11 0 0,14 0 0,-14 0 0,18 0 0,-24 0 0,21 0 0,-21 0 0,31 0 0,-23 0 0,18-3 0,-18 2 0,19-3 0,1 4 0,-3 0 0,-11-4 0,11 3 0,-10-4 0,14 5 0,2 0 0,-3 0 0,1 0 0,-8 0 0,2 0 0,-5 0 0,10 0 0,0 0 0,4 0 0,0 0 0,-3 0 0,-1 0 0,-4 0 0,0 0 0,-7 0 0,5 0 0,-4 0 0,9 0 0,-2 0 0,7 0 0,-7 0 0,2 0 0,1 0 0,-3 0 0,3 0 0,-1 0 0,-1 0 0,5 0 0,-3 0 0,1-3 0,2 2 0,-6-3 0,3 4 0,0 0 0,-3 0 0,2 0 0,-3 0 0,1 0 0,-1 0 0,0 0 0,0 0 0,0 0 0,1 0 0,2 0 0,-2 4 0,7-3 0,-4 2 0,1-3 0,2 0 0,-6 0 0,3 0 0,-4 0 0,4 0 0,-3 0 0,6 0 0,-6 0 0,3 0 0,-1 0 0,-2 0 0,6 0 0,-5 0 0,1 0 0,1 0 0,-3 0 0,3 0 0,-4 0 0,0 0 0,0 0 0,0 0 0,1 0 0,-8 0 0,6 0 0,-5 0 0,0 0 0,-2 0 0,-6 0 0,6 0 0,-4 0 0,4 0 0,0 0 0,-4 0 0,11 0 0,-12-4 0,5 2 0,-6-2 0,0 4 0,7 0 0,-6 0 0,5 0 0,1 0 0,-6 0 0,12 0 0,-5 0 0,9 0 0,2 0 0,3 0 0,0-4 0,0 4 0,-9-4 0,3 4 0,-15 0 0,5 0 0,-6 0 0,0 0 0,0 0 0,0 0 0,0 0 0,-11 0 0,14 0 0,-13 0 0,16 0 0,-6 0 0,0 0 0,7 0 0,1 0 0,6 0 0,0 0 0,0 0 0,4 0 0,-3 0 0,3 0 0,-4 0 0,0 3 0,0-2 0,-6 3 0,-13 2 0,2-4 0,-20 4 0,8-6 0,-11 0 0,1 0 0,-1 0 0,11 0 0,-8 0 0,20 0 0,-8 0 0,11 0 0,-12 0 0,-2 0 0,-24 0 0,-2 0 0,-12 0 0,0 0 0,1 0 0,-1 0 0,12 0 0,-9 0 0,-3 0 0,-3 0 0,4 0 0,25 0 0,20 0 0,18 0 0,3 0 0,6 0 0,-12 0 0,-11 0 0,-12 6 0,-35-4 0,-6 12 0,27-9 0,-3 0 0,-5 0 0,-2 0 0,1 0 0,-2-1 0,-10-4 0,1 0 0,14 0 0,3 0 0,0 0 0,2 0 0,6 0 0,1 0 0,-32 0 0,-9 0 0,22 0 0,15 0 0,3 0 0,30 0 0,-6 0 0,21 0 0,0 0 0,0 0 0,0 0 0,-3 0 0,-1 0 0,-4 0 0,0 0 0,0 0 0,0 0 0,1 0 0,2 0 0,-2 0 0,7 0 0,-4 0 0,4 0 0,0 0 0,0 0 0,0 0 0,1 0 0,-1 0 0,0 3 0,0-2 0,-4 2 0,4-3 0,-4 0 0,1 0 0,2 0 0,1 4 0,1-3 0,3 6 0,-4-3 0,0 4 0,0-1 0,0-2 0,0 2 0,0-3 0,0 4 0,0-4 0,4 3 0,-3-6 0,3 6 0,-4-6 0,0 6 0,0-3 0,-4 0 0,4 3 0,0-3 0,1 1 0,2 2 0,1-3 0,-3 4 0,6 0 0,-3-1 0,4 1 0,0 0 0,0 3 0,0 8 0,0-2 0,0 11 0,0-4 0,0-4 0,0 1 0,0-12 0,0 2 0,0-3 0,0 0 0,0-1 0,0 1 0,0 3 0,0-2 0,0 2 0,4-3 0,-3 0 0,6 0 0,-6-1 0,2 1 0,0-3 0,-2 1 0,6-5 0,-2 6 0,2-2 0,1 2 0,0 1 0,0 3 0,-1-2 0,1 2 0,3-3 0,-2 0 0,6 0 0,-6-1 0,2 1 0,-3 0 0,3 0 0,-2 0 0,2-1 0,-3 1 0,-1-4 0,5 3 0,0-2 0,4 2 0,-1-2 0,1 2 0,0-6 0,6 6 0,1-6 0,7 8 0,0-8 0,23 4 0,17-5 0,26 0 0,-42 0 0,-1 0 0,43-7 0,-3 5 0,-11-6 0,-23 8 0,-13 0 0,-17 0 0,-12 0 0,5 4 0,0-3 0,-5 2 0,23-3 0,-14 0 0,27 0 0,-8 0 0,22 0 0,15 0 0,13 0 0,-41 0 0,0 0 0,0 0 0,-1 0 0,1 4 0,0 0 0,42-2 0,-15 6 0,-13-8 0,-24 0 0,-3 0 0,-17 0 0,4 0 0,7 0 0,21 0 0,14 0 0,12 0 0,-12 0 0,9-7 0,-21 5 0,21-5 0,-9 7 0,12-8 0,11 7 0,-8-7 0,8 8 0,-23 0 0,-3 0 0,-23 0 0,-9 0 0,-13 4 0,0-3 0,14 2 0,31 5 0,6-6 0,20 13 0,-11-13 0,-1 12 0,-11-6 0,-2 1 0,-13 4 0,-10-12 0,-4 10 0,-11-10 0,0 3 0,0-4 0,0 0 0,0 0 0,-1 0 0,1 5 0,12-4 0,-16 3 0,14-4 0,-23 0 0,12 0 0,-6 0 0,7 0 0,0 0 0,0 0 0,0 0 0,11 0 0,-8 0 0,20 0 0,-9 0 0,0 0 0,9 0 0,-20 0 0,20 0 0,-20 0 0,8 0 0,1 6 0,-10-4 0,21 10 0,-8-10 0,10 4 0,1 0 0,-12-4 0,9 4 0,-8-6 0,10 0 0,-10 4 0,7-3 0,-19 4 0,20-5 0,-20 0 0,20 0 0,-9 0 0,12 0 0,11 0 0,3 0 0,12 0 0,0 0 0,-1 0 0,1-7 0,-12 5 0,9-5 0,-32 7 0,17 0 0,-31 0 0,9 0 0,-1 0 0,-8 0 0,8 0 0,-11 0 0,11 0 0,4 0 0,-1 0 0,9 0 0,-20 0 0,8 0 0,-11 0 0,-6 0 0,15 0 0,-1 0 0,30 0 0,-10 0 0,21 0 0,-20 0 0,20 0 0,-32 0 0,6 0 0,-24 0 0,-5 0 0,16 0 0,-14 0 0,27-7 0,-8 6 0,-1-10 0,-9 6 0,-13 0 0,-6-2 0,-4 6 0,-1-2 0,-3 3 0,0-4 0,-1 3 0,1-6 0,0 6 0,3-6 0,1-1 0,1 0 0,1-4 0,-8 1 0,4-2 0,-6-2 0,1-1 0,-2-6 0,-3 4 0,0-4 0,-3 6 0,2 0 0,-6 1 0,6-1 0,-3 0 0,1 4 0,2-3 0,-3 6 0,4-2 0,-3-1 0,2 3 0,-3-2 0,4 3 0,-3 4 0,2-3 0,-6 2 0,6-3 0,-6 0 0,3 0 0,-1 0 0,-2 4 0,6-3 0,-6 3 0,3-4 0,-4 0 0,0 0 0,0 4 0,4-3 0,-3 6 0,2-6 0,-2 6 0,-1-3 0,-4 1 0,3 2 0,-12-7 0,7 7 0,-8-7 0,6 7 0,-6-7 0,8 3 0,-3 0 0,9 1 0,0 1 0,-4-2 0,0 1 0,-7-6 0,5 4 0,-1-2 0,8 1 0,-1 3 0,0-1 0,3-2 0,-2 3 0,3 0 0,-4-3 0,-3 2 0,-2-3 0,1 4 0,1-3 0,-1 3 0,3-1 0,-6 2 0,7-1 0,-4 3 0,4-2 0,0-1 0,0 3 0,1-6 0,-1 6 0,0-6 0,0 3 0,-4 0 0,4-3 0,-4 2 0,4-3 0,0 4 0,0-3 0,1 2 0,-1 1 0,3-3 0,-2 6 0,3-2 0,-8 3 0,0 0 0,-4-4 0,0 3 0,1-6 0,-1 6 0,0-2 0,4-1 0,0 3 0,4-2 0,4-1 0,-3 3 0,6-6 0,-3 3 0,1 0 0,2-3 0,-2 6 0,3-3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F2FEC-0B01-D14A-8877-D01CF78E6BE3}" type="datetimeFigureOut">
              <a:rPr lang="pl-PL" smtClean="0"/>
              <a:t>20.04.2026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0D1C7-67E5-004D-A052-650D2F52878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037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50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1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4/20/26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58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4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53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7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2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8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3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2438400"/>
            <a:ext cx="10972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83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5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62" r:id="rId12"/>
    <p:sldLayoutId id="2147483763" r:id="rId13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3.xml"/><Relationship Id="rId4" Type="http://schemas.openxmlformats.org/officeDocument/2006/relationships/image" Target="../media/image1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0EAE3-3FB9-3E08-99CE-C81ABE05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3" r="-1" b="1636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B8CE58F-407C-497E-B723-21FD8C6D3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937" y="721297"/>
            <a:ext cx="5565913" cy="5415406"/>
            <a:chOff x="797792" y="912854"/>
            <a:chExt cx="5298208" cy="503229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E70332-ECAF-47BB-8C7B-BD049452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439" y="1056388"/>
              <a:ext cx="4968823" cy="4748064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6D9361-A35A-4DC8-AAB9-04FD2D6FE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7792" y="912854"/>
              <a:ext cx="5298208" cy="503229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7FC31AD-FBB3-4219-A758-D6F7594A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671" y="1232452"/>
              <a:ext cx="4715122" cy="4439901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CBBFAECD-B236-9F5F-8F12-96FDD2AA5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63" y="1685677"/>
            <a:ext cx="4181444" cy="2362673"/>
          </a:xfrm>
        </p:spPr>
        <p:txBody>
          <a:bodyPr anchor="b">
            <a:normAutofit/>
          </a:bodyPr>
          <a:lstStyle/>
          <a:p>
            <a:pPr algn="ctr"/>
            <a:r>
              <a:rPr lang="pl-PL" sz="4800">
                <a:solidFill>
                  <a:schemeClr val="tx1">
                    <a:lumMod val="75000"/>
                    <a:lumOff val="25000"/>
                  </a:schemeClr>
                </a:solidFill>
              </a:rPr>
              <a:t>DevOps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0C8FDFC-3A31-890F-2E1B-96AD16870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240" y="4048350"/>
            <a:ext cx="3283888" cy="816301"/>
          </a:xfrm>
        </p:spPr>
        <p:txBody>
          <a:bodyPr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pl-PL" sz="1700">
                <a:solidFill>
                  <a:schemeClr val="tx1">
                    <a:lumMod val="75000"/>
                    <a:lumOff val="25000"/>
                  </a:schemeClr>
                </a:solidFill>
              </a:rPr>
              <a:t>Testowanie w Docker i K8S</a:t>
            </a:r>
          </a:p>
        </p:txBody>
      </p:sp>
    </p:spTree>
    <p:extLst>
      <p:ext uri="{BB962C8B-B14F-4D97-AF65-F5344CB8AC3E}">
        <p14:creationId xmlns:p14="http://schemas.microsoft.com/office/powerpoint/2010/main" val="356967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66CB33-11A6-8D56-952F-8DF8431E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5BDDCB-A1BB-BCAE-9E1F-7B09C547C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l-PL" sz="1800" b="1" kern="0" dirty="0">
                <a:solidFill>
                  <a:srgbClr val="1F4E78"/>
                </a:solidFill>
                <a:effectLst/>
                <a:latin typeface="Arial" panose="020B0604020202020204" pitchFamily="34" charset="0"/>
              </a:rPr>
              <a:t> Cele szkolenia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Zapoznanie się z fundamentami Docker i konteneryzacją aplikacji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Praktyczne testy wydajności aplikacji w kontenerach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Wdrażanie aplikacji na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Kubernetes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Minikube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Testowanie i monitorowanie klastrów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Kubernetes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Narzędzia CI/CD w kontekście testowania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3725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7" name="Freeform: Shape 10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1686602F-622F-F3A4-86EB-04547161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pl-PL" dirty="0"/>
              <a:t>Wymagania wstępne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FBEE84-FF41-02E2-9077-217BD092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312988"/>
            <a:ext cx="6857365" cy="3651250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Podstawowa znajomość linii komend (</a:t>
            </a:r>
            <a:r>
              <a:rPr lang="pl-PL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Bash</a:t>
            </a: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/PowerShell)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Zainstalowany Docker na swoim komputerze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Zainstalowany </a:t>
            </a:r>
            <a:r>
              <a:rPr lang="pl-PL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Minikube</a:t>
            </a:r>
            <a:endParaRPr lang="pl-PL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Podstawowa wiedza na temat HTTP i sieci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Doświadczenie z testowaniem aplikacji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5069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025800-B5DD-CF65-1481-2ECE1B9D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Moduł 1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0C9E02-5718-6D0B-6BB2-A00970D1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Cele modułu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Zrozumienie konteneryzacji i różnic wobec maszyn wirtualnych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Praktyczne użycie Docker CLI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Architektura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Docker (Docker Engine, registries, images)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Instalacja i konfiguracja Docker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Podstawowe komendy: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pull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run,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logs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Przegląd publicznych obrazów 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Uruchomienie pierwszego kontenera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2092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0232B4F-9CDE-1805-BF0B-FE6CDDEC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FC50388-C8B6-E874-281B-510BD8F028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037004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39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45A5B-EE3F-DE1A-11E4-A490E4CA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673EFCF-0C50-A1C1-39FD-79FF890C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en-US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Moduł</a:t>
            </a: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3</a:t>
            </a:r>
            <a:endParaRPr lang="pl-P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4EF9EB1-FF25-7B45-A27B-A03251104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92835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333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056E8ED-5B25-49AE-F9BD-EE056342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0441D83-5844-FFF8-323E-26627A802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239538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99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D4C6249-AC49-D7FD-364C-1508A2AB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8082468-6169-88EF-C1E4-52EE3DD5A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794977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16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85BDEE-1F33-72C7-63B6-C7FAED1B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Moduł 1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Zakodowany kolor na planszy obwodu elektronicznego">
            <a:extLst>
              <a:ext uri="{FF2B5EF4-FFF2-40B4-BE49-F238E27FC236}">
                <a16:creationId xmlns:a16="http://schemas.microsoft.com/office/drawing/2014/main" id="{6F26661F-8E9A-70E5-E1FE-B1836194D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76" r="13984" b="-1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529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37CA83-BA07-D77D-DC74-B0F227E3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 - Czym jest konteneryzacja?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CE10514-EC43-A418-BE6A-F3394A817B1B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3089D19F-80F6-7A89-AA49-E298B3857059}"/>
              </a:ext>
            </a:extLst>
          </p:cNvPr>
          <p:cNvSpPr/>
          <p:nvPr/>
        </p:nvSpPr>
        <p:spPr>
          <a:xfrm>
            <a:off x="1418897" y="2984938"/>
            <a:ext cx="2879834" cy="23227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Maszyna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2168F6C-5498-E7AC-B289-AAA2BDBDE61B}"/>
              </a:ext>
            </a:extLst>
          </p:cNvPr>
          <p:cNvSpPr/>
          <p:nvPr/>
        </p:nvSpPr>
        <p:spPr>
          <a:xfrm>
            <a:off x="1986455" y="3689131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/>
              <a:t>Pełen OS(4-10BG)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DDE7298-15E0-FD40-E49D-2C2138E6678A}"/>
              </a:ext>
            </a:extLst>
          </p:cNvPr>
          <p:cNvSpPr/>
          <p:nvPr/>
        </p:nvSpPr>
        <p:spPr>
          <a:xfrm>
            <a:off x="1986455" y="4269827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/>
              <a:t>Duże zasoby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53EDA58E-D6F7-F2BB-565D-A3D621D4CFDC}"/>
              </a:ext>
            </a:extLst>
          </p:cNvPr>
          <p:cNvSpPr/>
          <p:nvPr/>
        </p:nvSpPr>
        <p:spPr>
          <a:xfrm>
            <a:off x="1986454" y="4788775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Boot</a:t>
            </a:r>
            <a:r>
              <a:rPr lang="pl-PL" sz="800" dirty="0"/>
              <a:t> </a:t>
            </a:r>
            <a:r>
              <a:rPr lang="pl-PL" sz="800" dirty="0" err="1"/>
              <a:t>time</a:t>
            </a:r>
            <a:r>
              <a:rPr lang="pl-PL" sz="800" dirty="0"/>
              <a:t> 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D6AED8C3-3226-5723-94C0-581561189082}"/>
              </a:ext>
            </a:extLst>
          </p:cNvPr>
          <p:cNvSpPr/>
          <p:nvPr/>
        </p:nvSpPr>
        <p:spPr>
          <a:xfrm>
            <a:off x="5985642" y="2984938"/>
            <a:ext cx="2879834" cy="23227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Kontener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C1ACDDD-F331-6335-E601-914B98C5B6A3}"/>
              </a:ext>
            </a:extLst>
          </p:cNvPr>
          <p:cNvSpPr/>
          <p:nvPr/>
        </p:nvSpPr>
        <p:spPr>
          <a:xfrm>
            <a:off x="6553199" y="3689131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/>
              <a:t>Lekkie (MB)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407C8667-1A35-C830-EA8B-A9CB173F3537}"/>
              </a:ext>
            </a:extLst>
          </p:cNvPr>
          <p:cNvSpPr/>
          <p:nvPr/>
        </p:nvSpPr>
        <p:spPr>
          <a:xfrm>
            <a:off x="6553199" y="4269827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/>
              <a:t>Izolacja na poziomie procesów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A7C6FF69-5319-6D0D-D875-13A955C88277}"/>
              </a:ext>
            </a:extLst>
          </p:cNvPr>
          <p:cNvSpPr/>
          <p:nvPr/>
        </p:nvSpPr>
        <p:spPr>
          <a:xfrm>
            <a:off x="6553199" y="4788775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 err="1"/>
              <a:t>Build</a:t>
            </a:r>
            <a:r>
              <a:rPr lang="pl-PL" sz="800" dirty="0"/>
              <a:t> </a:t>
            </a:r>
            <a:r>
              <a:rPr lang="pl-PL" sz="800" dirty="0" err="1"/>
              <a:t>once</a:t>
            </a:r>
            <a:r>
              <a:rPr lang="pl-PL" sz="800" dirty="0"/>
              <a:t> run </a:t>
            </a:r>
            <a:r>
              <a:rPr lang="pl-PL" sz="800" dirty="0" err="1"/>
              <a:t>anyware</a:t>
            </a:r>
            <a:endParaRPr lang="pl-PL" sz="800" dirty="0"/>
          </a:p>
        </p:txBody>
      </p:sp>
    </p:spTree>
    <p:extLst>
      <p:ext uri="{BB962C8B-B14F-4D97-AF65-F5344CB8AC3E}">
        <p14:creationId xmlns:p14="http://schemas.microsoft.com/office/powerpoint/2010/main" val="429025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7043-A5D7-A8E3-AD57-020B0C14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F4ABC7D4-B4FE-C24F-907C-08237F61A0AC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7464D7E-85CF-8F65-5088-7F6F981B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39" y="442219"/>
            <a:ext cx="9388891" cy="625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6879EBF-6830-0CDA-2399-9B044D81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1" y="0"/>
            <a:ext cx="10222029" cy="68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7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3F692D-7F61-E646-4C5D-C4C95C33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DC248D-5CAE-B0BF-41E7-0C4B88C5E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1F6D1B5-3380-9DC5-3AA5-F25499622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16" y="-17112"/>
            <a:ext cx="10312668" cy="687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6D2BB9-54DD-4E19-B6E7-F3647DB2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CE6771-5A7A-A0F9-95B1-286C9D137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4FB45A6-0691-7B2A-FD1F-1D0A8194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759" y="0"/>
            <a:ext cx="9879531" cy="658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7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1499F5-E141-FDC7-F949-DF5D3DF3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4F68CC-887E-B488-9483-17767F7C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FA474D9-D5E8-53F9-512B-61564DA7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883" y="116572"/>
            <a:ext cx="9937283" cy="66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6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93BEFD-876F-24E1-BE99-073A32EB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D4D74A-06DC-DE93-273B-E32D278FE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69CA53C-0F72-BD09-C98D-713EF3E4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94" y="68446"/>
            <a:ext cx="10081661" cy="672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1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9B78F097-DBE5-D36A-9B41-D80F2A4A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85896"/>
            <a:ext cx="9224920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pl-PL" sz="3000" dirty="0"/>
              <a:t>Architektura image - </a:t>
            </a:r>
            <a:r>
              <a:rPr lang="pl-PL" sz="3000" dirty="0" err="1"/>
              <a:t>dockerfile</a:t>
            </a:r>
            <a:endParaRPr lang="pl-PL" sz="30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21ECDB6-FF85-ECA9-A996-46BCD30AEE3D}"/>
              </a:ext>
            </a:extLst>
          </p:cNvPr>
          <p:cNvSpPr txBox="1"/>
          <p:nvPr/>
        </p:nvSpPr>
        <p:spPr>
          <a:xfrm>
            <a:off x="1135117" y="1731984"/>
            <a:ext cx="40359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# Bazowy obraz z </a:t>
            </a:r>
            <a:r>
              <a:rPr lang="pl-PL" sz="1400" dirty="0" err="1"/>
              <a:t>Node.js</a:t>
            </a:r>
            <a:endParaRPr lang="pl-PL" sz="1400" dirty="0"/>
          </a:p>
          <a:p>
            <a:r>
              <a:rPr lang="pl-PL" sz="1400" dirty="0"/>
              <a:t>FROM node:20-alpine</a:t>
            </a:r>
          </a:p>
          <a:p>
            <a:endParaRPr lang="pl-PL" sz="1400" dirty="0"/>
          </a:p>
          <a:p>
            <a:r>
              <a:rPr lang="pl-PL" sz="1400" dirty="0"/>
              <a:t># Ustaw katalog roboczy w kontenerze</a:t>
            </a:r>
          </a:p>
          <a:p>
            <a:r>
              <a:rPr lang="pl-PL" sz="1400" dirty="0"/>
              <a:t>WORKDIR /</a:t>
            </a:r>
            <a:r>
              <a:rPr lang="pl-PL" sz="1400" dirty="0" err="1"/>
              <a:t>app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pliki zależności</a:t>
            </a:r>
          </a:p>
          <a:p>
            <a:r>
              <a:rPr lang="pl-PL" sz="1400" dirty="0"/>
              <a:t>COPY </a:t>
            </a:r>
            <a:r>
              <a:rPr lang="pl-PL" sz="1400" dirty="0" err="1"/>
              <a:t>package</a:t>
            </a:r>
            <a:r>
              <a:rPr lang="pl-PL" sz="1400" dirty="0"/>
              <a:t>*.</a:t>
            </a:r>
            <a:r>
              <a:rPr lang="pl-PL" sz="1400" dirty="0" err="1"/>
              <a:t>json</a:t>
            </a:r>
            <a:r>
              <a:rPr lang="pl-PL" sz="1400" dirty="0"/>
              <a:t> ./</a:t>
            </a:r>
          </a:p>
          <a:p>
            <a:endParaRPr lang="pl-PL" sz="1400" dirty="0"/>
          </a:p>
          <a:p>
            <a:r>
              <a:rPr lang="pl-PL" sz="1400" dirty="0"/>
              <a:t># Zainstaluj zależności</a:t>
            </a:r>
          </a:p>
          <a:p>
            <a:r>
              <a:rPr lang="pl-PL" sz="1400" dirty="0"/>
              <a:t>RUN </a:t>
            </a:r>
            <a:r>
              <a:rPr lang="pl-PL" sz="1400" dirty="0" err="1"/>
              <a:t>npm</a:t>
            </a:r>
            <a:r>
              <a:rPr lang="pl-PL" sz="1400" dirty="0"/>
              <a:t> </a:t>
            </a:r>
            <a:r>
              <a:rPr lang="pl-PL" sz="1400" dirty="0" err="1"/>
              <a:t>install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resztę plików aplikacji</a:t>
            </a:r>
          </a:p>
          <a:p>
            <a:r>
              <a:rPr lang="pl-PL" sz="1400" dirty="0"/>
              <a:t>COPY . .</a:t>
            </a:r>
          </a:p>
          <a:p>
            <a:endParaRPr lang="pl-PL" sz="1400" dirty="0"/>
          </a:p>
          <a:p>
            <a:r>
              <a:rPr lang="pl-PL" sz="1400" dirty="0"/>
              <a:t># Aplikacja nasłuchuje na porcie 3000</a:t>
            </a:r>
          </a:p>
          <a:p>
            <a:r>
              <a:rPr lang="pl-PL" sz="1400" dirty="0"/>
              <a:t>EXPOSE 3000</a:t>
            </a:r>
          </a:p>
          <a:p>
            <a:endParaRPr lang="pl-PL" sz="1400" dirty="0"/>
          </a:p>
          <a:p>
            <a:r>
              <a:rPr lang="pl-PL" sz="1400" dirty="0"/>
              <a:t># Komenda uruchamiająca aplikację</a:t>
            </a:r>
          </a:p>
          <a:p>
            <a:r>
              <a:rPr lang="pl-PL" sz="1400" dirty="0"/>
              <a:t>CMD ["</a:t>
            </a:r>
            <a:r>
              <a:rPr lang="pl-PL" sz="1400" dirty="0" err="1"/>
              <a:t>npm</a:t>
            </a:r>
            <a:r>
              <a:rPr lang="pl-PL" sz="1400" dirty="0"/>
              <a:t>", "start"]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A307799-7094-74E4-9984-34C1B74771A8}"/>
              </a:ext>
            </a:extLst>
          </p:cNvPr>
          <p:cNvSpPr txBox="1"/>
          <p:nvPr/>
        </p:nvSpPr>
        <p:spPr>
          <a:xfrm>
            <a:off x="6096000" y="184901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FROM wybiera obraz bazowy</a:t>
            </a:r>
          </a:p>
          <a:p>
            <a:endParaRPr lang="pl-PL" dirty="0"/>
          </a:p>
          <a:p>
            <a:r>
              <a:rPr lang="pl-PL" dirty="0"/>
              <a:t>WORKDIR ustawia katalog roboczy</a:t>
            </a:r>
          </a:p>
          <a:p>
            <a:endParaRPr lang="pl-PL" dirty="0"/>
          </a:p>
          <a:p>
            <a:r>
              <a:rPr lang="pl-PL" dirty="0"/>
              <a:t>COPY kopiuje pliki do kontenera</a:t>
            </a:r>
          </a:p>
          <a:p>
            <a:endParaRPr lang="pl-PL" dirty="0"/>
          </a:p>
          <a:p>
            <a:r>
              <a:rPr lang="pl-PL" dirty="0"/>
              <a:t>RUN wykonuje polecenie podczas budowania obrazu</a:t>
            </a:r>
          </a:p>
          <a:p>
            <a:endParaRPr lang="pl-PL" dirty="0"/>
          </a:p>
          <a:p>
            <a:r>
              <a:rPr lang="pl-PL" dirty="0"/>
              <a:t>EXPOSE informuje o porcie</a:t>
            </a:r>
          </a:p>
          <a:p>
            <a:endParaRPr lang="pl-PL" dirty="0"/>
          </a:p>
          <a:p>
            <a:r>
              <a:rPr lang="pl-PL" dirty="0"/>
              <a:t>CMD uruchamia aplikację po starcie kontenera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5AC0905-6FF5-B7A1-678C-64F010DBD5ED}"/>
              </a:ext>
            </a:extLst>
          </p:cNvPr>
          <p:cNvSpPr txBox="1"/>
          <p:nvPr/>
        </p:nvSpPr>
        <p:spPr>
          <a:xfrm>
            <a:off x="735725" y="632999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56716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30BEF0-1B0A-2401-06A1-6E91869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Budowanie i uruchamianie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CA8344-D303-82C5-1B99-53DF4D7D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>
                <a:solidFill>
                  <a:schemeClr val="accent1">
                    <a:lumMod val="75000"/>
                  </a:schemeClr>
                </a:solidFill>
              </a:rPr>
              <a:t>docker</a:t>
            </a:r>
            <a:r>
              <a:rPr lang="pl-PL" dirty="0"/>
              <a:t> </a:t>
            </a:r>
            <a:r>
              <a:rPr lang="pl-PL" b="1" dirty="0" err="1"/>
              <a:t>build</a:t>
            </a:r>
            <a:r>
              <a:rPr lang="pl-PL" dirty="0"/>
              <a:t> </a:t>
            </a:r>
            <a:r>
              <a:rPr lang="pl-P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-t</a:t>
            </a:r>
            <a:r>
              <a:rPr lang="pl-PL" dirty="0"/>
              <a:t> moja-obraz   </a:t>
            </a:r>
            <a:r>
              <a:rPr lang="pl-PL" sz="4800" dirty="0">
                <a:solidFill>
                  <a:srgbClr val="92D050"/>
                </a:solidFill>
              </a:rPr>
              <a:t>.</a:t>
            </a:r>
          </a:p>
          <a:p>
            <a:br>
              <a:rPr lang="pl-PL" dirty="0"/>
            </a:br>
            <a:endParaRPr lang="pl-PL" dirty="0"/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b="1" dirty="0"/>
              <a:t>run</a:t>
            </a:r>
            <a:r>
              <a:rPr lang="pl-PL" dirty="0"/>
              <a:t> </a:t>
            </a:r>
            <a:r>
              <a:rPr lang="pl-PL" dirty="0">
                <a:solidFill>
                  <a:srgbClr val="92D050"/>
                </a:solidFill>
              </a:rPr>
              <a:t>-p</a:t>
            </a:r>
            <a:r>
              <a:rPr lang="pl-PL" dirty="0"/>
              <a:t> </a:t>
            </a:r>
            <a:r>
              <a:rPr lang="pl-PL" dirty="0">
                <a:solidFill>
                  <a:schemeClr val="accent1"/>
                </a:solidFill>
              </a:rPr>
              <a:t>3000:3000</a:t>
            </a:r>
            <a:r>
              <a:rPr lang="pl-PL" dirty="0"/>
              <a:t> </a:t>
            </a:r>
            <a:r>
              <a:rPr lang="pl-PL" dirty="0" err="1"/>
              <a:t>moj</a:t>
            </a:r>
            <a:r>
              <a:rPr lang="pl-PL" dirty="0"/>
              <a:t>-obraz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E662958-0136-8862-8EF6-0DDBE96BF459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A5E4543-0F7F-F257-6077-CB17BB1B77F6}"/>
              </a:ext>
            </a:extLst>
          </p:cNvPr>
          <p:cNvSpPr txBox="1"/>
          <p:nvPr/>
        </p:nvSpPr>
        <p:spPr>
          <a:xfrm>
            <a:off x="1130178" y="3892904"/>
            <a:ext cx="218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Buduje obraz 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03D7888E-369B-68FB-D3D4-E8DC55E81F1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220895" y="3231818"/>
            <a:ext cx="1025697" cy="66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9F532EB-79AC-CDAC-261C-DD8D54B8D018}"/>
              </a:ext>
            </a:extLst>
          </p:cNvPr>
          <p:cNvSpPr txBox="1"/>
          <p:nvPr/>
        </p:nvSpPr>
        <p:spPr>
          <a:xfrm>
            <a:off x="4036655" y="3930239"/>
            <a:ext cx="3269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Nadaje nazwę obrazowi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626F4E6-9B0E-F049-A000-94DDFBFFBF82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4045147" y="3225114"/>
            <a:ext cx="1626009" cy="70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4EDFD47-7429-882F-E66E-2460432FC65D}"/>
              </a:ext>
            </a:extLst>
          </p:cNvPr>
          <p:cNvSpPr txBox="1"/>
          <p:nvPr/>
        </p:nvSpPr>
        <p:spPr>
          <a:xfrm>
            <a:off x="8146854" y="2385850"/>
            <a:ext cx="326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Jeśli plik domyślnie nazywa się </a:t>
            </a:r>
            <a:r>
              <a:rPr lang="pl-PL" dirty="0" err="1"/>
              <a:t>Dockerfile</a:t>
            </a:r>
            <a:endParaRPr lang="pl-PL" dirty="0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A41408B-D501-AB15-39E5-87AB33686CA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400800" y="2709016"/>
            <a:ext cx="1746054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EC17B5E-C0C5-B841-3D66-A0B5314CA25E}"/>
              </a:ext>
            </a:extLst>
          </p:cNvPr>
          <p:cNvSpPr txBox="1"/>
          <p:nvPr/>
        </p:nvSpPr>
        <p:spPr>
          <a:xfrm>
            <a:off x="1065158" y="5991915"/>
            <a:ext cx="218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uruchamia   kontener 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0697A132-8C83-6FB7-ED1C-C573439834C3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155875" y="5330829"/>
            <a:ext cx="1025697" cy="66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6F398BF9-B99F-C608-A24A-DDA1066566BA}"/>
              </a:ext>
            </a:extLst>
          </p:cNvPr>
          <p:cNvSpPr txBox="1"/>
          <p:nvPr/>
        </p:nvSpPr>
        <p:spPr>
          <a:xfrm>
            <a:off x="3914566" y="5917534"/>
            <a:ext cx="218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Porty </a:t>
            </a:r>
            <a:r>
              <a:rPr lang="pl-PL" dirty="0" err="1"/>
              <a:t>host:kontener</a:t>
            </a:r>
            <a:endParaRPr lang="pl-PL" dirty="0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146932CF-B365-9F9A-8D19-86B53F8D5B76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3731741" y="5330829"/>
            <a:ext cx="1273542" cy="58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26BA02FA-03A9-0E6F-9928-1FAB89A4E413}"/>
              </a:ext>
            </a:extLst>
          </p:cNvPr>
          <p:cNvSpPr txBox="1"/>
          <p:nvPr/>
        </p:nvSpPr>
        <p:spPr>
          <a:xfrm>
            <a:off x="8401624" y="5367900"/>
            <a:ext cx="326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Mój obraz z którego stworzony jest kontener</a:t>
            </a: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9AC443E1-45DC-5487-C0BB-557A727F3F55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6849763" y="5177012"/>
            <a:ext cx="1551861" cy="514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35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412BA7-78E4-0754-B4DC-6EE1F7C2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KISS (</a:t>
            </a:r>
            <a:r>
              <a:rPr lang="pl-PL" dirty="0" err="1"/>
              <a:t>Keep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Simple </a:t>
            </a:r>
            <a:r>
              <a:rPr lang="pl-PL" dirty="0" err="1"/>
              <a:t>Stupid</a:t>
            </a:r>
            <a:r>
              <a:rPr lang="pl-PL" dirty="0"/>
              <a:t>)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73905E08-FA92-6401-4320-BF52EF45F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102055"/>
              </p:ext>
            </p:extLst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8696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55BBF6-7403-A205-F0D5-7DF5ECA3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Proces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24FD3BD0-2E94-08AC-E46A-2681F2EA0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322564"/>
              </p:ext>
            </p:extLst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0236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A20634B-B604-90BD-4168-57E0CE63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– utwórz konto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C34FDDE-F232-9BF9-B8F7-EEFDDC38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5" r="18537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019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52A5F4-26EA-B89E-B1C2-F10BD9DE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0-cwiczenie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F1FC08-D36F-C25A-27CE-3EEE069D0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3626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243906-A68E-599A-109C-65BD64C5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Lab 1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EBBB5E3-2A73-5129-C2CB-13F5977D95ED}"/>
              </a:ext>
            </a:extLst>
          </p:cNvPr>
          <p:cNvSpPr txBox="1"/>
          <p:nvPr/>
        </p:nvSpPr>
        <p:spPr>
          <a:xfrm>
            <a:off x="2075935" y="2483708"/>
            <a:ext cx="33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Katalog 1-cwiczenie</a:t>
            </a:r>
          </a:p>
        </p:txBody>
      </p:sp>
      <p:pic>
        <p:nvPicPr>
          <p:cNvPr id="8" name="Obraz 7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5E7EEE06-B49E-504D-E2EF-2ED7EB620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35" y="3248578"/>
            <a:ext cx="54610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52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A3E9-D656-AA24-EDC6-5EAE869B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5D59F6-8AC6-0550-8B0F-208B3699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Praktyka - </a:t>
            </a:r>
            <a:r>
              <a:rPr lang="pl-PL" b="0" baseline="0" dirty="0"/>
              <a:t>Tworzysz obraz aplikacji 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F7785E82-D40D-9640-A8E1-7AD617BE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0021"/>
            <a:ext cx="7772400" cy="313847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A51EFA1-FF1C-5675-CA84-712BB9B175C1}"/>
              </a:ext>
            </a:extLst>
          </p:cNvPr>
          <p:cNvSpPr txBox="1"/>
          <p:nvPr/>
        </p:nvSpPr>
        <p:spPr>
          <a:xfrm>
            <a:off x="2209800" y="5924993"/>
            <a:ext cx="8504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  <a:p>
            <a:pPr rtl="0"/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-t </a:t>
            </a:r>
            <a:r>
              <a:rPr lang="pl-PL" dirty="0" err="1"/>
              <a:t>twoj_imie</a:t>
            </a:r>
            <a:r>
              <a:rPr lang="pl-PL" dirty="0"/>
              <a:t>/moja-aplikacja:1.0 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CFB5B68-76F5-50E6-37E1-5ACBC140BAB8}"/>
              </a:ext>
            </a:extLst>
          </p:cNvPr>
          <p:cNvSpPr txBox="1"/>
          <p:nvPr/>
        </p:nvSpPr>
        <p:spPr>
          <a:xfrm>
            <a:off x="2035776" y="2244192"/>
            <a:ext cx="794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W folderze z projektem masz </a:t>
            </a:r>
            <a:r>
              <a:rPr lang="pl-PL" dirty="0" err="1"/>
              <a:t>Dockerfile</a:t>
            </a:r>
            <a:r>
              <a:rPr lang="pl-PL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13343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7FB096-1EB8-0FCA-BCF9-48E41BFF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Praktyka docker login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4A8FEF-EB6B-E33A-CB72-B8DB4072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docker login </a:t>
            </a:r>
            <a:endParaRPr lang="pl-PL" dirty="0"/>
          </a:p>
        </p:txBody>
      </p:sp>
      <p:pic>
        <p:nvPicPr>
          <p:cNvPr id="5" name="Obraz 4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95C20850-3BE3-A12A-0E4C-69719F6C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129717"/>
            <a:ext cx="7772400" cy="201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46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939B38-65EF-E24F-20BF-B5BADA7B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Praktyka wysłanie 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F0156EE-A544-4A52-7484-19D096A328F8}"/>
              </a:ext>
            </a:extLst>
          </p:cNvPr>
          <p:cNvSpPr txBox="1"/>
          <p:nvPr/>
        </p:nvSpPr>
        <p:spPr>
          <a:xfrm>
            <a:off x="3493874" y="3538322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  <a:p>
            <a:pPr rtl="0"/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push</a:t>
            </a:r>
            <a:r>
              <a:rPr lang="pl-PL" dirty="0"/>
              <a:t> </a:t>
            </a:r>
            <a:r>
              <a:rPr lang="pl-PL" dirty="0" err="1"/>
              <a:t>twoje_repo</a:t>
            </a:r>
            <a:r>
              <a:rPr lang="pl-PL" dirty="0"/>
              <a:t>/moja-aplikacja:1.0</a:t>
            </a:r>
          </a:p>
        </p:txBody>
      </p:sp>
    </p:spTree>
    <p:extLst>
      <p:ext uri="{BB962C8B-B14F-4D97-AF65-F5344CB8AC3E}">
        <p14:creationId xmlns:p14="http://schemas.microsoft.com/office/powerpoint/2010/main" val="1054027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93807-C9A4-7C0D-AEB2-C5351858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312684-34E6-4414-83D2-62B3C76BC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934058" cy="6858000"/>
            <a:chOff x="-1" y="0"/>
            <a:chExt cx="10934058" cy="6858000"/>
          </a:xfrm>
        </p:grpSpPr>
        <p:sp>
          <p:nvSpPr>
            <p:cNvPr id="34" name="Freeform: Shape 27">
              <a:extLst>
                <a:ext uri="{FF2B5EF4-FFF2-40B4-BE49-F238E27FC236}">
                  <a16:creationId xmlns:a16="http://schemas.microsoft.com/office/drawing/2014/main" id="{604F4760-8690-4B2E-87EE-6BD660BA8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BA7E51E-7B6A-4A79-8F84-47C845C7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5" name="Freeform: Shape 29">
              <a:extLst>
                <a:ext uri="{FF2B5EF4-FFF2-40B4-BE49-F238E27FC236}">
                  <a16:creationId xmlns:a16="http://schemas.microsoft.com/office/drawing/2014/main" id="{03C85561-90D2-4AFA-B2C5-F2D61D86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26B71D-5A6F-48FE-AC6A-D7AAA0180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3327B236-C801-4F25-C35B-C173B402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0" y="1346268"/>
            <a:ext cx="7983942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pobranie 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86244D2-A211-7473-8DC9-07E1006C38D9}"/>
              </a:ext>
            </a:extLst>
          </p:cNvPr>
          <p:cNvSpPr txBox="1"/>
          <p:nvPr/>
        </p:nvSpPr>
        <p:spPr>
          <a:xfrm>
            <a:off x="1180529" y="4471606"/>
            <a:ext cx="7645419" cy="1117151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</a:pPr>
            <a:r>
              <a:rPr lang="en-US" sz="2400" spc="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docker pull </a:t>
            </a:r>
            <a:r>
              <a:rPr lang="en-US" sz="2400" spc="1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twoje_imie</a:t>
            </a:r>
            <a:r>
              <a:rPr lang="en-US" sz="2400" spc="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/moja-aplikacja:1.0</a:t>
            </a:r>
          </a:p>
        </p:txBody>
      </p:sp>
    </p:spTree>
    <p:extLst>
      <p:ext uri="{BB962C8B-B14F-4D97-AF65-F5344CB8AC3E}">
        <p14:creationId xmlns:p14="http://schemas.microsoft.com/office/powerpoint/2010/main" val="2837337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8F569-E059-CBBF-17D6-A09EB626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B8B1B0-1CAE-C09F-EDCE-68EC42CE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Praktyka uruchomienie</a:t>
            </a:r>
          </a:p>
        </p:txBody>
      </p:sp>
      <p:pic>
        <p:nvPicPr>
          <p:cNvPr id="7" name="Obraz 6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F2327BDF-65F2-AC19-6680-A01A23D0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9" y="1929309"/>
            <a:ext cx="4788670" cy="2999382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E76F078E-C5BB-A39F-E27F-7345E7898B4C}"/>
              </a:ext>
            </a:extLst>
          </p:cNvPr>
          <p:cNvSpPr txBox="1"/>
          <p:nvPr/>
        </p:nvSpPr>
        <p:spPr>
          <a:xfrm>
            <a:off x="7657106" y="3220279"/>
            <a:ext cx="4352322" cy="2385392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run -p 3000:3000 </a:t>
            </a:r>
            <a:r>
              <a:rPr lang="en-US" spc="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twoje_imie</a:t>
            </a: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/moja-aplikacja:1.0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B9C7D17-F6B5-6B40-DEAC-6D358D269687}"/>
              </a:ext>
            </a:extLst>
          </p:cNvPr>
          <p:cNvSpPr txBox="1"/>
          <p:nvPr/>
        </p:nvSpPr>
        <p:spPr>
          <a:xfrm>
            <a:off x="938013" y="5758755"/>
            <a:ext cx="359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>
                <a:solidFill>
                  <a:srgbClr val="92D050"/>
                </a:solidFill>
              </a:rPr>
              <a:t>Ctrl</a:t>
            </a:r>
            <a:r>
              <a:rPr lang="pl-PL" b="1" dirty="0">
                <a:solidFill>
                  <a:srgbClr val="92D050"/>
                </a:solidFill>
              </a:rPr>
              <a:t> + C </a:t>
            </a:r>
            <a:r>
              <a:rPr lang="pl-PL" b="1" dirty="0">
                <a:solidFill>
                  <a:srgbClr val="92D050"/>
                </a:solidFill>
                <a:sym typeface="Wingdings" pitchFamily="2" charset="2"/>
              </a:rPr>
              <a:t> zamyka kontener</a:t>
            </a:r>
            <a:endParaRPr lang="pl-PL" b="1" dirty="0">
              <a:solidFill>
                <a:srgbClr val="92D05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6138CA5-FAF1-5344-0A9C-379E56581BDB}"/>
              </a:ext>
            </a:extLst>
          </p:cNvPr>
          <p:cNvSpPr txBox="1"/>
          <p:nvPr/>
        </p:nvSpPr>
        <p:spPr>
          <a:xfrm>
            <a:off x="4627815" y="6197025"/>
            <a:ext cx="77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u="sng" dirty="0">
                <a:solidFill>
                  <a:schemeClr val="accent1">
                    <a:lumMod val="75000"/>
                  </a:schemeClr>
                </a:solidFill>
              </a:rPr>
              <a:t>!!! Nigdy </a:t>
            </a:r>
            <a:r>
              <a:rPr lang="pl-PL" b="1" u="sng" dirty="0" err="1">
                <a:solidFill>
                  <a:schemeClr val="accent1">
                    <a:lumMod val="75000"/>
                  </a:schemeClr>
                </a:solidFill>
              </a:rPr>
              <a:t>Ctrl</a:t>
            </a:r>
            <a:r>
              <a:rPr lang="pl-PL" b="1" u="sng" dirty="0">
                <a:solidFill>
                  <a:schemeClr val="accent1">
                    <a:lumMod val="75000"/>
                  </a:schemeClr>
                </a:solidFill>
              </a:rPr>
              <a:t> + D </a:t>
            </a:r>
            <a:r>
              <a:rPr lang="pl-PL" b="1" u="sng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 wyrzuca z powłoki ale nie zamyka !!!</a:t>
            </a:r>
            <a:endParaRPr lang="pl-PL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417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7DE92-BAA2-3E3A-D936-383AA84A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211F3BA-56B3-8F51-BD13-C05DBFFB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07" y="3912041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46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uruchomienie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1A02D9-6424-7B53-6B28-F519EB962F41}"/>
              </a:ext>
            </a:extLst>
          </p:cNvPr>
          <p:cNvSpPr txBox="1"/>
          <p:nvPr/>
        </p:nvSpPr>
        <p:spPr>
          <a:xfrm>
            <a:off x="2619375" y="5308096"/>
            <a:ext cx="6953250" cy="862394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930"/>
              </a:spcBef>
            </a:pPr>
            <a:r>
              <a:rPr lang="en-US" sz="1700" spc="150">
                <a:solidFill>
                  <a:schemeClr val="tx1">
                    <a:lumMod val="85000"/>
                    <a:lumOff val="15000"/>
                  </a:schemeClr>
                </a:solidFill>
              </a:rPr>
              <a:t>docker run -d -p 3000:3000 kubuspospolitos/moja-aplikacja:1.0</a:t>
            </a:r>
          </a:p>
        </p:txBody>
      </p:sp>
      <p:pic>
        <p:nvPicPr>
          <p:cNvPr id="7" name="Obraz 6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00CD3B24-5756-4BBF-2DA7-DCF87C0E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329" y="821665"/>
            <a:ext cx="4704883" cy="2946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7C136F1E-AAC0-091B-AF07-BD784E2FF62B}"/>
                  </a:ext>
                </a:extLst>
              </p14:cNvPr>
              <p14:cNvContentPartPr/>
              <p14:nvPr/>
            </p14:nvContentPartPr>
            <p14:xfrm>
              <a:off x="4215094" y="5334830"/>
              <a:ext cx="431640" cy="43884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7C136F1E-AAC0-091B-AF07-BD784E2FF6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6094" y="5325830"/>
                <a:ext cx="449280" cy="4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564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4C42B9-DA44-DFA3-E001-729C7B2B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46DC814-D598-8596-1EA8-7B80590FDF97}"/>
              </a:ext>
            </a:extLst>
          </p:cNvPr>
          <p:cNvSpPr txBox="1"/>
          <p:nvPr/>
        </p:nvSpPr>
        <p:spPr>
          <a:xfrm>
            <a:off x="432486" y="2598689"/>
            <a:ext cx="117595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apple@MacBook-Pro</a:t>
            </a:r>
            <a:r>
              <a:rPr lang="pl-PL" dirty="0"/>
              <a:t> 1-cwiczenie % </a:t>
            </a:r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ps</a:t>
            </a:r>
            <a:r>
              <a:rPr lang="pl-PL" dirty="0"/>
              <a:t> -l </a:t>
            </a:r>
          </a:p>
          <a:p>
            <a:r>
              <a:rPr lang="pl-PL" dirty="0"/>
              <a:t>    </a:t>
            </a:r>
          </a:p>
          <a:p>
            <a:r>
              <a:rPr lang="pl-PL" sz="1200" dirty="0"/>
              <a:t>CONTAINER ID   IMAGE                                COMMAND                  CREATED          STATUS                          PORTS     NAMES</a:t>
            </a:r>
          </a:p>
          <a:p>
            <a:r>
              <a:rPr lang="pl-PL" sz="1200" dirty="0"/>
              <a:t>cf130e097665   </a:t>
            </a:r>
            <a:r>
              <a:rPr lang="pl-PL" sz="1200" dirty="0" err="1"/>
              <a:t>kubuspospolitos</a:t>
            </a:r>
            <a:r>
              <a:rPr lang="pl-PL" sz="1200" dirty="0"/>
              <a:t>/moja-aplikacja:1.0   "</a:t>
            </a:r>
            <a:r>
              <a:rPr lang="pl-PL" sz="1200" dirty="0" err="1"/>
              <a:t>docker-entrypoint.s</a:t>
            </a:r>
            <a:r>
              <a:rPr lang="pl-PL" sz="1200" dirty="0"/>
              <a:t>…"   20 </a:t>
            </a:r>
            <a:r>
              <a:rPr lang="pl-PL" sz="1200" dirty="0" err="1"/>
              <a:t>minutes</a:t>
            </a:r>
            <a:r>
              <a:rPr lang="pl-PL" sz="1200" dirty="0"/>
              <a:t> ago   </a:t>
            </a:r>
            <a:r>
              <a:rPr lang="pl-PL" sz="1200" dirty="0" err="1"/>
              <a:t>Exited</a:t>
            </a:r>
            <a:r>
              <a:rPr lang="pl-PL" sz="1200" dirty="0"/>
              <a:t> (1) </a:t>
            </a:r>
            <a:r>
              <a:rPr lang="pl-PL" sz="1200" dirty="0" err="1"/>
              <a:t>About</a:t>
            </a:r>
            <a:r>
              <a:rPr lang="pl-PL" sz="1200" dirty="0"/>
              <a:t> a </a:t>
            </a:r>
            <a:r>
              <a:rPr lang="pl-PL" sz="1200" dirty="0" err="1"/>
              <a:t>minute</a:t>
            </a:r>
            <a:r>
              <a:rPr lang="pl-PL" sz="1200" dirty="0"/>
              <a:t> ago             </a:t>
            </a:r>
            <a:r>
              <a:rPr lang="pl-PL" sz="1200" dirty="0" err="1"/>
              <a:t>nifty_gates</a:t>
            </a: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3670413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C4E85C-7423-8C6A-0F51-04E7EC1D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B254EF0-0F75-C71A-C4BA-0811E9905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8" y="2532159"/>
            <a:ext cx="11796584" cy="250434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A58D676A-14DA-745A-E05B-303CF79899C9}"/>
                  </a:ext>
                </a:extLst>
              </p14:cNvPr>
              <p14:cNvContentPartPr/>
              <p14:nvPr/>
            </p14:nvContentPartPr>
            <p14:xfrm>
              <a:off x="265860" y="2391448"/>
              <a:ext cx="3308760" cy="4503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A58D676A-14DA-745A-E05B-303CF79899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220" y="2382808"/>
                <a:ext cx="332640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110E3EE9-CA72-8EB8-F9B5-7787BCF1FC73}"/>
                  </a:ext>
                </a:extLst>
              </p14:cNvPr>
              <p14:cNvContentPartPr/>
              <p14:nvPr/>
            </p14:nvContentPartPr>
            <p14:xfrm>
              <a:off x="2247334" y="3076190"/>
              <a:ext cx="2972520" cy="30204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110E3EE9-CA72-8EB8-F9B5-7787BCF1FC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8334" y="3067190"/>
                <a:ext cx="2990160" cy="3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505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FCAD91-5A19-E49F-AADE-03BE4DD9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 </a:t>
            </a:r>
            <a:r>
              <a:rPr lang="pl-PL" dirty="0" err="1"/>
              <a:t>docker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AC4FA46-999D-A3E5-4F42-DFD175A1487F}"/>
              </a:ext>
            </a:extLst>
          </p:cNvPr>
          <p:cNvSpPr txBox="1"/>
          <p:nvPr/>
        </p:nvSpPr>
        <p:spPr>
          <a:xfrm>
            <a:off x="321274" y="2357204"/>
            <a:ext cx="1223318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run -d -p 3000:3000 </a:t>
            </a:r>
            <a:r>
              <a:rPr lang="pl-PL" sz="1200" b="1" dirty="0" err="1">
                <a:solidFill>
                  <a:schemeClr val="accent1"/>
                </a:solidFill>
              </a:rPr>
              <a:t>kubuspospolitos</a:t>
            </a:r>
            <a:r>
              <a:rPr lang="pl-PL" sz="1200" b="1" dirty="0">
                <a:solidFill>
                  <a:schemeClr val="accent1"/>
                </a:solidFill>
              </a:rPr>
              <a:t>/moja-aplikacja:1.0</a:t>
            </a:r>
          </a:p>
          <a:p>
            <a:endParaRPr lang="pl-PL" sz="1200" dirty="0"/>
          </a:p>
          <a:p>
            <a:r>
              <a:rPr lang="pl-PL" sz="1200" dirty="0"/>
              <a:t>106dfa1a069b98e32f0f1fc4ae06467c1ada32fac77f712179641b1a35d64c6a</a:t>
            </a:r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ps</a:t>
            </a:r>
            <a:r>
              <a:rPr lang="pl-PL" sz="1200" b="1" dirty="0">
                <a:solidFill>
                  <a:schemeClr val="accent1"/>
                </a:solidFill>
              </a:rPr>
              <a:t> -l </a:t>
            </a:r>
          </a:p>
          <a:p>
            <a:r>
              <a:rPr lang="pl-PL" sz="1200" dirty="0"/>
              <a:t>CONTAINER ID   IMAGE                                COMMAND                  CREATED         STATUS         PORTS                                         NAMES</a:t>
            </a:r>
          </a:p>
          <a:p>
            <a:r>
              <a:rPr lang="pl-PL" sz="1200" dirty="0"/>
              <a:t>106dfa1a069b   </a:t>
            </a:r>
            <a:r>
              <a:rPr lang="pl-PL" sz="1200" dirty="0" err="1"/>
              <a:t>kubuspospolitos</a:t>
            </a:r>
            <a:r>
              <a:rPr lang="pl-PL" sz="1200" dirty="0"/>
              <a:t>/moja-aplikacja:1.0   "</a:t>
            </a:r>
            <a:r>
              <a:rPr lang="pl-PL" sz="1200" dirty="0" err="1"/>
              <a:t>docker-entrypoint.s</a:t>
            </a:r>
            <a:r>
              <a:rPr lang="pl-PL" sz="1200" dirty="0"/>
              <a:t>…"   6 </a:t>
            </a:r>
            <a:r>
              <a:rPr lang="pl-PL" sz="1200" dirty="0" err="1"/>
              <a:t>minutes</a:t>
            </a:r>
            <a:r>
              <a:rPr lang="pl-PL" sz="1200" dirty="0"/>
              <a:t> ago   </a:t>
            </a:r>
            <a:r>
              <a:rPr lang="pl-PL" sz="1200" dirty="0" err="1"/>
              <a:t>Up</a:t>
            </a:r>
            <a:r>
              <a:rPr lang="pl-PL" sz="1200" dirty="0"/>
              <a:t> 6 </a:t>
            </a:r>
            <a:r>
              <a:rPr lang="pl-PL" sz="1200" dirty="0" err="1"/>
              <a:t>minutes</a:t>
            </a:r>
            <a:r>
              <a:rPr lang="pl-PL" sz="1200" dirty="0"/>
              <a:t>   0.0.0.0:3000-&gt;3000/</a:t>
            </a:r>
            <a:r>
              <a:rPr lang="pl-PL" sz="1200" dirty="0" err="1"/>
              <a:t>tcp</a:t>
            </a:r>
            <a:r>
              <a:rPr lang="pl-PL" sz="1200" dirty="0"/>
              <a:t>, [::]:3000-&gt;3000/</a:t>
            </a:r>
            <a:r>
              <a:rPr lang="pl-PL" sz="1200" dirty="0" err="1"/>
              <a:t>tcp</a:t>
            </a:r>
            <a:r>
              <a:rPr lang="pl-PL" sz="1200" dirty="0"/>
              <a:t>   </a:t>
            </a:r>
            <a:r>
              <a:rPr lang="pl-PL" sz="1200" dirty="0" err="1"/>
              <a:t>compassionate_johnson</a:t>
            </a:r>
            <a:endParaRPr lang="pl-PL" sz="1200" dirty="0"/>
          </a:p>
          <a:p>
            <a:endParaRPr lang="pl-PL" sz="1200" dirty="0"/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rm</a:t>
            </a:r>
            <a:r>
              <a:rPr lang="pl-PL" sz="1200" b="1" dirty="0">
                <a:solidFill>
                  <a:schemeClr val="accent1"/>
                </a:solidFill>
              </a:rPr>
              <a:t> 106dfa1a069b</a:t>
            </a:r>
          </a:p>
          <a:p>
            <a:r>
              <a:rPr lang="pl-PL" sz="1200" dirty="0"/>
              <a:t>Error </a:t>
            </a:r>
            <a:r>
              <a:rPr lang="pl-PL" sz="1200" dirty="0" err="1"/>
              <a:t>response</a:t>
            </a:r>
            <a:r>
              <a:rPr lang="pl-PL" sz="1200" dirty="0"/>
              <a:t> from </a:t>
            </a:r>
            <a:r>
              <a:rPr lang="pl-PL" sz="1200" dirty="0" err="1"/>
              <a:t>daemon</a:t>
            </a:r>
            <a:r>
              <a:rPr lang="pl-PL" sz="1200" dirty="0"/>
              <a:t>: </a:t>
            </a:r>
            <a:r>
              <a:rPr lang="pl-PL" sz="1200" dirty="0" err="1"/>
              <a:t>cannot</a:t>
            </a:r>
            <a:r>
              <a:rPr lang="pl-PL" sz="1200" dirty="0"/>
              <a:t> </a:t>
            </a:r>
            <a:r>
              <a:rPr lang="pl-PL" sz="1200" dirty="0" err="1"/>
              <a:t>remove</a:t>
            </a:r>
            <a:r>
              <a:rPr lang="pl-PL" sz="1200" dirty="0"/>
              <a:t> </a:t>
            </a:r>
            <a:r>
              <a:rPr lang="pl-PL" sz="1200" dirty="0" err="1"/>
              <a:t>container</a:t>
            </a:r>
            <a:r>
              <a:rPr lang="pl-PL" sz="1200" dirty="0"/>
              <a:t> "106dfa1a069b": </a:t>
            </a:r>
            <a:r>
              <a:rPr lang="pl-PL" sz="1200" dirty="0" err="1"/>
              <a:t>container</a:t>
            </a:r>
            <a:r>
              <a:rPr lang="pl-PL" sz="1200" dirty="0"/>
              <a:t> </a:t>
            </a:r>
            <a:r>
              <a:rPr lang="pl-PL" sz="1200" dirty="0" err="1"/>
              <a:t>is</a:t>
            </a:r>
            <a:r>
              <a:rPr lang="pl-PL" sz="1200" dirty="0"/>
              <a:t> </a:t>
            </a:r>
            <a:r>
              <a:rPr lang="pl-PL" sz="1200" dirty="0" err="1"/>
              <a:t>running</a:t>
            </a:r>
            <a:r>
              <a:rPr lang="pl-PL" sz="1200" dirty="0"/>
              <a:t>: stop the </a:t>
            </a:r>
            <a:r>
              <a:rPr lang="pl-PL" sz="1200" dirty="0" err="1"/>
              <a:t>container</a:t>
            </a:r>
            <a:r>
              <a:rPr lang="pl-PL" sz="1200" dirty="0"/>
              <a:t> </a:t>
            </a:r>
            <a:r>
              <a:rPr lang="pl-PL" sz="1200" dirty="0" err="1"/>
              <a:t>before</a:t>
            </a:r>
            <a:r>
              <a:rPr lang="pl-PL" sz="1200" dirty="0"/>
              <a:t> </a:t>
            </a:r>
            <a:r>
              <a:rPr lang="pl-PL" sz="1200" dirty="0" err="1"/>
              <a:t>removing</a:t>
            </a:r>
            <a:r>
              <a:rPr lang="pl-PL" sz="1200" dirty="0"/>
              <a:t> </a:t>
            </a:r>
            <a:r>
              <a:rPr lang="pl-PL" sz="1200" dirty="0" err="1"/>
              <a:t>or</a:t>
            </a:r>
            <a:r>
              <a:rPr lang="pl-PL" sz="1200" dirty="0"/>
              <a:t> </a:t>
            </a:r>
            <a:r>
              <a:rPr lang="pl-PL" sz="1200" dirty="0" err="1"/>
              <a:t>force</a:t>
            </a:r>
            <a:r>
              <a:rPr lang="pl-PL" sz="1200" dirty="0"/>
              <a:t> </a:t>
            </a:r>
            <a:r>
              <a:rPr lang="pl-PL" sz="1200" dirty="0" err="1"/>
              <a:t>remove</a:t>
            </a:r>
            <a:endParaRPr lang="pl-PL" sz="1200" dirty="0"/>
          </a:p>
          <a:p>
            <a:endParaRPr lang="pl-PL" sz="1200" dirty="0"/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stop 106dfa1a069b     </a:t>
            </a:r>
          </a:p>
          <a:p>
            <a:r>
              <a:rPr lang="pl-PL" sz="1200" dirty="0"/>
              <a:t>106dfa1a069b</a:t>
            </a:r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rm</a:t>
            </a:r>
            <a:r>
              <a:rPr lang="pl-PL" sz="1200" b="1" dirty="0">
                <a:solidFill>
                  <a:schemeClr val="accent1"/>
                </a:solidFill>
              </a:rPr>
              <a:t> 106dfa1a069b  </a:t>
            </a:r>
          </a:p>
          <a:p>
            <a:r>
              <a:rPr lang="pl-PL" sz="1200" dirty="0"/>
              <a:t>106dfa1a069b</a:t>
            </a:r>
          </a:p>
        </p:txBody>
      </p:sp>
    </p:spTree>
    <p:extLst>
      <p:ext uri="{BB962C8B-B14F-4D97-AF65-F5344CB8AC3E}">
        <p14:creationId xmlns:p14="http://schemas.microsoft.com/office/powerpoint/2010/main" val="641041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D1A71B-C149-ABEB-2E94-16BBE36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Docker </a:t>
            </a:r>
            <a:r>
              <a:rPr lang="pl-PL" dirty="0" err="1"/>
              <a:t>logs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09B9CCE-475E-6B2D-356F-17CCC1F5F3D4}"/>
              </a:ext>
            </a:extLst>
          </p:cNvPr>
          <p:cNvSpPr txBox="1"/>
          <p:nvPr/>
        </p:nvSpPr>
        <p:spPr>
          <a:xfrm>
            <a:off x="126125" y="2575262"/>
            <a:ext cx="1309588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   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CONTAINER ID   IMAGE                COMMAND           CREATED          STATUS          PORTS                                         NAMES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449539ea386b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flask-students-app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"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python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app.py</a:t>
            </a:r>
            <a:r>
              <a:rPr lang="pl-PL" sz="1000" dirty="0">
                <a:effectLst/>
                <a:latin typeface="Menlo" panose="020B0609030804020204" pitchFamily="49" charset="0"/>
              </a:rPr>
              <a:t>"   39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ago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Up</a:t>
            </a:r>
            <a:r>
              <a:rPr lang="pl-PL" sz="1000" dirty="0">
                <a:effectLst/>
                <a:latin typeface="Menlo" panose="020B0609030804020204" pitchFamily="49" charset="0"/>
              </a:rPr>
              <a:t> 39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  0.0.0.0:5001-&gt;5000/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, [::]:5001-&gt;5000/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intelligent_montalcini</a:t>
            </a:r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-l 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CONTAINER ID   IMAGE                COMMAND           CREATED          STATUS          PORTS                                         NAMES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449539ea386b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flask-students-app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"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python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app.py</a:t>
            </a:r>
            <a:r>
              <a:rPr lang="pl-PL" sz="1000" dirty="0">
                <a:effectLst/>
                <a:latin typeface="Menlo" panose="020B0609030804020204" pitchFamily="49" charset="0"/>
              </a:rPr>
              <a:t>"   45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ago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Up</a:t>
            </a:r>
            <a:r>
              <a:rPr lang="pl-PL" sz="1000" dirty="0">
                <a:effectLst/>
                <a:latin typeface="Menlo" panose="020B0609030804020204" pitchFamily="49" charset="0"/>
              </a:rPr>
              <a:t> 45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  0.0.0.0:5001-&gt;5000/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, [::]:5001-&gt;5000/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intelligent_montalcini</a:t>
            </a:r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logs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449539ea386b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Serving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</a:t>
            </a:r>
            <a:r>
              <a:rPr lang="pl-PL" sz="1000" dirty="0">
                <a:effectLst/>
                <a:latin typeface="Menlo" panose="020B0609030804020204" pitchFamily="49" charset="0"/>
              </a:rPr>
              <a:t> '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</a:t>
            </a:r>
            <a:r>
              <a:rPr lang="pl-PL" sz="1000" dirty="0"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Debug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mode</a:t>
            </a:r>
            <a:r>
              <a:rPr lang="pl-PL" sz="1000" dirty="0">
                <a:effectLst/>
                <a:latin typeface="Menlo" panose="020B0609030804020204" pitchFamily="49" charset="0"/>
              </a:rPr>
              <a:t>: off</a:t>
            </a:r>
          </a:p>
          <a:p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WARNING: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a development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 Do not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it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in a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production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deployment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production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WSGI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instead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</a:t>
            </a:r>
            <a:endParaRPr lang="pl-PL" sz="1000" dirty="0">
              <a:solidFill>
                <a:srgbClr val="C63121"/>
              </a:solidFill>
              <a:effectLst/>
              <a:latin typeface="Menlo" panose="020B0609030804020204" pitchFamily="49" charset="0"/>
            </a:endParaRP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all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addresses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(0.0.0.0)</a:t>
            </a: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http://127.0.0.1:5000</a:t>
            </a: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http://172.17.0.2:5000</a:t>
            </a:r>
          </a:p>
          <a:p>
            <a:r>
              <a:rPr lang="pl-PL" sz="1000" dirty="0">
                <a:solidFill>
                  <a:srgbClr val="A8A923"/>
                </a:solidFill>
                <a:effectLst/>
                <a:latin typeface="Menlo" panose="020B0609030804020204" pitchFamily="49" charset="0"/>
              </a:rPr>
              <a:t>Press CTRL+C to </a:t>
            </a:r>
            <a:r>
              <a:rPr lang="pl-PL" sz="1000" dirty="0" err="1">
                <a:solidFill>
                  <a:srgbClr val="A8A923"/>
                </a:solidFill>
                <a:effectLst/>
                <a:latin typeface="Menlo" panose="020B0609030804020204" pitchFamily="49" charset="0"/>
              </a:rPr>
              <a:t>quit</a:t>
            </a:r>
            <a:endParaRPr lang="pl-PL" sz="1000" dirty="0">
              <a:solidFill>
                <a:srgbClr val="A8A923"/>
              </a:solidFill>
              <a:effectLst/>
              <a:latin typeface="Menlo" panose="020B0609030804020204" pitchFamily="49" charset="0"/>
            </a:endParaRPr>
          </a:p>
          <a:p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~ % 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5B796A7-BDF6-46ED-C2B7-0882B3A7DC90}"/>
              </a:ext>
            </a:extLst>
          </p:cNvPr>
          <p:cNvCxnSpPr>
            <a:cxnSpLocks/>
          </p:cNvCxnSpPr>
          <p:nvPr/>
        </p:nvCxnSpPr>
        <p:spPr>
          <a:xfrm>
            <a:off x="1030014" y="4099095"/>
            <a:ext cx="2648607" cy="830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712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7547F8-897D-1709-B80B-32B803B0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Docker </a:t>
            </a:r>
            <a:r>
              <a:rPr lang="pl-PL" dirty="0" err="1"/>
              <a:t>exec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BBA5CE-5C92-E435-00AD-695E234A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7182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EB8AD-FA2F-7A3D-E0B5-ECB1BA24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Lab 2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AAE931-F37B-7B07-BC68-67AE002D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Wykonaj zadanie z katalogu 2-cwiczenia</a:t>
            </a:r>
          </a:p>
        </p:txBody>
      </p:sp>
      <p:pic>
        <p:nvPicPr>
          <p:cNvPr id="5" name="Obraz 4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BAEFBB64-8417-089F-98F2-C30F10EE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090278"/>
            <a:ext cx="3378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94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312684-34E6-4414-83D2-62B3C76BC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934058" cy="6858000"/>
            <a:chOff x="-1" y="0"/>
            <a:chExt cx="10934058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4F4760-8690-4B2E-87EE-6BD660BA8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BA7E51E-7B6A-4A79-8F84-47C845C7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C85561-90D2-4AFA-B2C5-F2D61D86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026B71D-5A6F-48FE-AC6A-D7AAA0180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7A21B609-145A-6E06-150B-4F01282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0" y="1346268"/>
            <a:ext cx="7983942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Moduł 2</a:t>
            </a:r>
          </a:p>
        </p:txBody>
      </p:sp>
    </p:spTree>
    <p:extLst>
      <p:ext uri="{BB962C8B-B14F-4D97-AF65-F5344CB8AC3E}">
        <p14:creationId xmlns:p14="http://schemas.microsoft.com/office/powerpoint/2010/main" val="4082702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AB91-55C4-8544-51D5-1CEE17F9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AB66D9-8250-B490-2029-236E073F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85896"/>
            <a:ext cx="9224920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pl-PL" sz="3000" dirty="0"/>
              <a:t>Architektura image - </a:t>
            </a:r>
            <a:r>
              <a:rPr lang="pl-PL" sz="3000" dirty="0" err="1"/>
              <a:t>dockerfile</a:t>
            </a:r>
            <a:endParaRPr lang="pl-PL" sz="30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20A5F0D-9841-ED72-84EB-4BE58A4DC912}"/>
              </a:ext>
            </a:extLst>
          </p:cNvPr>
          <p:cNvSpPr txBox="1"/>
          <p:nvPr/>
        </p:nvSpPr>
        <p:spPr>
          <a:xfrm>
            <a:off x="1087492" y="2217759"/>
            <a:ext cx="40359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# Bazowy obraz z </a:t>
            </a:r>
            <a:r>
              <a:rPr lang="pl-PL" sz="1400" dirty="0" err="1"/>
              <a:t>Node.js</a:t>
            </a:r>
            <a:endParaRPr lang="pl-PL" sz="1400" dirty="0"/>
          </a:p>
          <a:p>
            <a:r>
              <a:rPr lang="pl-PL" sz="1400" dirty="0"/>
              <a:t>FROM node:20-alpine</a:t>
            </a:r>
          </a:p>
          <a:p>
            <a:endParaRPr lang="pl-PL" sz="1400" dirty="0"/>
          </a:p>
          <a:p>
            <a:r>
              <a:rPr lang="pl-PL" sz="1400" dirty="0"/>
              <a:t># Ustaw katalog roboczy w kontenerze</a:t>
            </a:r>
          </a:p>
          <a:p>
            <a:r>
              <a:rPr lang="pl-PL" sz="1400" dirty="0"/>
              <a:t>WORKDIR /</a:t>
            </a:r>
            <a:r>
              <a:rPr lang="pl-PL" sz="1400" dirty="0" err="1"/>
              <a:t>app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pliki zależności</a:t>
            </a:r>
          </a:p>
          <a:p>
            <a:r>
              <a:rPr lang="pl-PL" sz="1400" dirty="0"/>
              <a:t>COPY </a:t>
            </a:r>
            <a:r>
              <a:rPr lang="pl-PL" sz="1400" dirty="0" err="1"/>
              <a:t>package</a:t>
            </a:r>
            <a:r>
              <a:rPr lang="pl-PL" sz="1400" dirty="0"/>
              <a:t>*.</a:t>
            </a:r>
            <a:r>
              <a:rPr lang="pl-PL" sz="1400" dirty="0" err="1"/>
              <a:t>json</a:t>
            </a:r>
            <a:r>
              <a:rPr lang="pl-PL" sz="1400" dirty="0"/>
              <a:t> ./</a:t>
            </a:r>
          </a:p>
          <a:p>
            <a:endParaRPr lang="pl-PL" sz="1400" dirty="0"/>
          </a:p>
          <a:p>
            <a:r>
              <a:rPr lang="pl-PL" sz="1400" dirty="0"/>
              <a:t># Zainstaluj zależności</a:t>
            </a:r>
          </a:p>
          <a:p>
            <a:r>
              <a:rPr lang="pl-PL" sz="1400" dirty="0"/>
              <a:t>RUN </a:t>
            </a:r>
            <a:r>
              <a:rPr lang="pl-PL" sz="1400" dirty="0" err="1"/>
              <a:t>npm</a:t>
            </a:r>
            <a:r>
              <a:rPr lang="pl-PL" sz="1400" dirty="0"/>
              <a:t> </a:t>
            </a:r>
            <a:r>
              <a:rPr lang="pl-PL" sz="1400" dirty="0" err="1"/>
              <a:t>install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resztę plików aplikacji</a:t>
            </a:r>
          </a:p>
          <a:p>
            <a:r>
              <a:rPr lang="pl-PL" sz="1400" dirty="0"/>
              <a:t>COPY . .</a:t>
            </a:r>
          </a:p>
          <a:p>
            <a:endParaRPr lang="pl-PL" sz="1400" dirty="0"/>
          </a:p>
          <a:p>
            <a:r>
              <a:rPr lang="pl-PL" sz="1400" dirty="0"/>
              <a:t># Aplikacja nasłuchuje na porcie 3000</a:t>
            </a:r>
          </a:p>
          <a:p>
            <a:r>
              <a:rPr lang="pl-PL" sz="1400" dirty="0"/>
              <a:t>EXPOSE 3000</a:t>
            </a:r>
          </a:p>
          <a:p>
            <a:endParaRPr lang="pl-PL" sz="1400" dirty="0"/>
          </a:p>
          <a:p>
            <a:r>
              <a:rPr lang="pl-PL" sz="1400" dirty="0"/>
              <a:t># Komenda uruchamiająca aplikację</a:t>
            </a:r>
          </a:p>
          <a:p>
            <a:r>
              <a:rPr lang="pl-PL" sz="1400" dirty="0"/>
              <a:t>CMD ["</a:t>
            </a:r>
            <a:r>
              <a:rPr lang="pl-PL" sz="1400" dirty="0" err="1"/>
              <a:t>npm</a:t>
            </a:r>
            <a:r>
              <a:rPr lang="pl-PL" sz="1400" dirty="0"/>
              <a:t>", "start"]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12C6B72-2B4D-CD30-FD45-506EBA417518}"/>
              </a:ext>
            </a:extLst>
          </p:cNvPr>
          <p:cNvSpPr txBox="1"/>
          <p:nvPr/>
        </p:nvSpPr>
        <p:spPr>
          <a:xfrm>
            <a:off x="5734050" y="265590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FROM wybiera obraz bazowy</a:t>
            </a:r>
          </a:p>
          <a:p>
            <a:endParaRPr lang="pl-PL" dirty="0"/>
          </a:p>
          <a:p>
            <a:r>
              <a:rPr lang="pl-PL" dirty="0"/>
              <a:t>WORKDIR ustawia katalog roboczy</a:t>
            </a:r>
          </a:p>
          <a:p>
            <a:endParaRPr lang="pl-PL" dirty="0"/>
          </a:p>
          <a:p>
            <a:r>
              <a:rPr lang="pl-PL" dirty="0"/>
              <a:t>COPY kopiuje pliki do kontenera</a:t>
            </a:r>
          </a:p>
          <a:p>
            <a:endParaRPr lang="pl-PL" dirty="0"/>
          </a:p>
          <a:p>
            <a:r>
              <a:rPr lang="pl-PL" dirty="0"/>
              <a:t>RUN wykonuje polecenie podczas budowania obrazu</a:t>
            </a:r>
          </a:p>
          <a:p>
            <a:endParaRPr lang="pl-PL" dirty="0"/>
          </a:p>
          <a:p>
            <a:r>
              <a:rPr lang="pl-PL" dirty="0"/>
              <a:t>EXPOSE informuje o porcie</a:t>
            </a:r>
          </a:p>
          <a:p>
            <a:endParaRPr lang="pl-PL" dirty="0"/>
          </a:p>
          <a:p>
            <a:r>
              <a:rPr lang="pl-PL" dirty="0"/>
              <a:t>CMD uruchamia aplikację po starcie kontenera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797D1DDA-2DEC-7CA9-3370-611AA499B66D}"/>
              </a:ext>
            </a:extLst>
          </p:cNvPr>
          <p:cNvSpPr txBox="1"/>
          <p:nvPr/>
        </p:nvSpPr>
        <p:spPr>
          <a:xfrm>
            <a:off x="735725" y="632999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03873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71EBFD-5601-685A-8366-A58CDF7D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56" y="431710"/>
            <a:ext cx="9955087" cy="1345269"/>
          </a:xfrm>
        </p:spPr>
        <p:txBody>
          <a:bodyPr>
            <a:normAutofit/>
          </a:bodyPr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– minimalizuj ilość warstw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BCB01F-418D-F44C-F997-E1CD484A5D12}"/>
              </a:ext>
            </a:extLst>
          </p:cNvPr>
          <p:cNvSpPr txBox="1"/>
          <p:nvPr/>
        </p:nvSpPr>
        <p:spPr>
          <a:xfrm>
            <a:off x="451945" y="2341023"/>
            <a:ext cx="1163495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800" dirty="0" err="1"/>
              <a:t>apple@MacBook-Pro</a:t>
            </a:r>
            <a:r>
              <a:rPr lang="pl-PL" sz="800" dirty="0"/>
              <a:t> 2-cwiczenia % </a:t>
            </a:r>
            <a:r>
              <a:rPr lang="pl-PL" sz="800" dirty="0" err="1"/>
              <a:t>docker</a:t>
            </a:r>
            <a:r>
              <a:rPr lang="pl-PL" sz="800" dirty="0"/>
              <a:t> </a:t>
            </a:r>
            <a:r>
              <a:rPr lang="pl-PL" sz="800" dirty="0" err="1"/>
              <a:t>build</a:t>
            </a:r>
            <a:r>
              <a:rPr lang="pl-PL" sz="800" dirty="0"/>
              <a:t> -t nowy . </a:t>
            </a:r>
          </a:p>
          <a:p>
            <a:r>
              <a:rPr lang="pl-PL" sz="800" dirty="0"/>
              <a:t>[+] </a:t>
            </a:r>
            <a:r>
              <a:rPr lang="pl-PL" sz="800" dirty="0" err="1"/>
              <a:t>Building</a:t>
            </a:r>
            <a:r>
              <a:rPr lang="pl-PL" sz="800" dirty="0"/>
              <a:t> 1.1s (11/11) FINISHED                                                                                                                                                                                            </a:t>
            </a:r>
            <a:r>
              <a:rPr lang="pl-PL" sz="800" dirty="0" err="1"/>
              <a:t>docker:desktop-linux</a:t>
            </a:r>
            <a:endParaRPr lang="pl-PL" sz="800" dirty="0"/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</a:t>
            </a:r>
            <a:r>
              <a:rPr lang="pl-PL" sz="800" dirty="0" err="1"/>
              <a:t>build</a:t>
            </a:r>
            <a:r>
              <a:rPr lang="pl-PL" sz="800" dirty="0"/>
              <a:t> </a:t>
            </a:r>
            <a:r>
              <a:rPr lang="pl-PL" sz="800" dirty="0" err="1"/>
              <a:t>definition</a:t>
            </a:r>
            <a:r>
              <a:rPr lang="pl-PL" sz="800" dirty="0"/>
              <a:t> from </a:t>
            </a:r>
            <a:r>
              <a:rPr lang="pl-PL" sz="800" dirty="0" err="1"/>
              <a:t>Dockerfile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transferring</a:t>
            </a:r>
            <a:r>
              <a:rPr lang="pl-PL" sz="800" dirty="0"/>
              <a:t> </a:t>
            </a:r>
            <a:r>
              <a:rPr lang="pl-PL" sz="800" dirty="0" err="1"/>
              <a:t>dockerfile</a:t>
            </a:r>
            <a:r>
              <a:rPr lang="pl-PL" sz="800" dirty="0"/>
              <a:t>: 201B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</a:t>
            </a:r>
            <a:r>
              <a:rPr lang="pl-PL" sz="800" dirty="0" err="1"/>
              <a:t>metadata</a:t>
            </a:r>
            <a:r>
              <a:rPr lang="pl-PL" sz="800" dirty="0"/>
              <a:t> for </a:t>
            </a:r>
            <a:r>
              <a:rPr lang="pl-PL" sz="800" dirty="0" err="1"/>
              <a:t>docker.io</a:t>
            </a:r>
            <a:r>
              <a:rPr lang="pl-PL" sz="800" dirty="0"/>
              <a:t>/</a:t>
            </a:r>
            <a:r>
              <a:rPr lang="pl-PL" sz="800" dirty="0" err="1"/>
              <a:t>library</a:t>
            </a:r>
            <a:r>
              <a:rPr lang="pl-PL" sz="800" dirty="0"/>
              <a:t>/python:3.12-slim                                                                                                                                                                           1.1s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auth</a:t>
            </a:r>
            <a:r>
              <a:rPr lang="pl-PL" sz="800" dirty="0"/>
              <a:t>] </a:t>
            </a:r>
            <a:r>
              <a:rPr lang="pl-PL" sz="800" dirty="0" err="1"/>
              <a:t>library</a:t>
            </a:r>
            <a:r>
              <a:rPr lang="pl-PL" sz="800" dirty="0"/>
              <a:t>/</a:t>
            </a:r>
            <a:r>
              <a:rPr lang="pl-PL" sz="800" dirty="0" err="1"/>
              <a:t>python:pull</a:t>
            </a:r>
            <a:r>
              <a:rPr lang="pl-PL" sz="800" dirty="0"/>
              <a:t> </a:t>
            </a:r>
            <a:r>
              <a:rPr lang="pl-PL" sz="800" dirty="0" err="1"/>
              <a:t>token</a:t>
            </a:r>
            <a:r>
              <a:rPr lang="pl-PL" sz="800" dirty="0"/>
              <a:t> for registry-1.docker.io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.</a:t>
            </a:r>
            <a:r>
              <a:rPr lang="pl-PL" sz="800" dirty="0" err="1"/>
              <a:t>dockerignore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transferring</a:t>
            </a:r>
            <a:r>
              <a:rPr lang="pl-PL" sz="800" dirty="0"/>
              <a:t> </a:t>
            </a:r>
            <a:r>
              <a:rPr lang="pl-PL" sz="800" dirty="0" err="1"/>
              <a:t>context</a:t>
            </a:r>
            <a:r>
              <a:rPr lang="pl-PL" sz="800" dirty="0"/>
              <a:t>: 118B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</a:t>
            </a:r>
            <a:r>
              <a:rPr lang="pl-PL" sz="800" b="1" dirty="0">
                <a:solidFill>
                  <a:schemeClr val="accent1"/>
                </a:solidFill>
              </a:rPr>
              <a:t>=&gt; [1/5] FROM </a:t>
            </a:r>
            <a:r>
              <a:rPr lang="pl-PL" sz="800" b="1" dirty="0" err="1">
                <a:solidFill>
                  <a:schemeClr val="accent1"/>
                </a:solidFill>
              </a:rPr>
              <a:t>docker.io</a:t>
            </a:r>
            <a:r>
              <a:rPr lang="pl-PL" sz="800" b="1" dirty="0">
                <a:solidFill>
                  <a:schemeClr val="accent1"/>
                </a:solidFill>
              </a:rPr>
              <a:t>/</a:t>
            </a:r>
            <a:r>
              <a:rPr lang="pl-PL" sz="800" b="1" dirty="0" err="1">
                <a:solidFill>
                  <a:schemeClr val="accent1"/>
                </a:solidFill>
              </a:rPr>
              <a:t>library</a:t>
            </a:r>
            <a:r>
              <a:rPr lang="pl-PL" sz="800" b="1" dirty="0">
                <a:solidFill>
                  <a:schemeClr val="accent1"/>
                </a:solidFill>
              </a:rPr>
              <a:t>/python:3.12-slim@sha256:ccc7089399c8bb65dd1fb3ed6d55efa538a3f5e7fca3f5988ac3b5b87e593bf0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[</a:t>
            </a:r>
            <a:r>
              <a:rPr lang="pl-PL" sz="800" b="1" dirty="0" err="1">
                <a:solidFill>
                  <a:schemeClr val="accent1"/>
                </a:solidFill>
              </a:rPr>
              <a:t>internal</a:t>
            </a:r>
            <a:r>
              <a:rPr lang="pl-PL" sz="800" b="1" dirty="0">
                <a:solidFill>
                  <a:schemeClr val="accent1"/>
                </a:solidFill>
              </a:rPr>
              <a:t>] </a:t>
            </a:r>
            <a:r>
              <a:rPr lang="pl-PL" sz="800" b="1" dirty="0" err="1">
                <a:solidFill>
                  <a:schemeClr val="accent1"/>
                </a:solidFill>
              </a:rPr>
              <a:t>load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build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context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=&gt; </a:t>
            </a:r>
            <a:r>
              <a:rPr lang="pl-PL" sz="800" b="1" dirty="0" err="1">
                <a:solidFill>
                  <a:schemeClr val="accent1"/>
                </a:solidFill>
              </a:rPr>
              <a:t>transferring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context</a:t>
            </a:r>
            <a:r>
              <a:rPr lang="pl-PL" sz="800" b="1" dirty="0">
                <a:solidFill>
                  <a:schemeClr val="accent1"/>
                </a:solidFill>
              </a:rPr>
              <a:t>: 153B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[2/5] WORKDIR /</a:t>
            </a:r>
            <a:r>
              <a:rPr lang="pl-PL" sz="800" b="1" dirty="0" err="1">
                <a:solidFill>
                  <a:schemeClr val="accent1"/>
                </a:solidFill>
              </a:rPr>
              <a:t>app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[3/5] COPY </a:t>
            </a:r>
            <a:r>
              <a:rPr lang="pl-PL" sz="800" b="1" dirty="0" err="1">
                <a:solidFill>
                  <a:schemeClr val="accent1"/>
                </a:solidFill>
              </a:rPr>
              <a:t>requirements.txt</a:t>
            </a:r>
            <a:r>
              <a:rPr lang="pl-PL" sz="800" b="1" dirty="0">
                <a:solidFill>
                  <a:schemeClr val="accent1"/>
                </a:solidFill>
              </a:rPr>
              <a:t> .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[4/5] RUN pip </a:t>
            </a:r>
            <a:r>
              <a:rPr lang="pl-PL" sz="800" b="1" dirty="0" err="1">
                <a:solidFill>
                  <a:schemeClr val="accent1"/>
                </a:solidFill>
              </a:rPr>
              <a:t>install</a:t>
            </a:r>
            <a:r>
              <a:rPr lang="pl-PL" sz="800" b="1" dirty="0">
                <a:solidFill>
                  <a:schemeClr val="accent1"/>
                </a:solidFill>
              </a:rPr>
              <a:t> --no-cache-</a:t>
            </a:r>
            <a:r>
              <a:rPr lang="pl-PL" sz="800" b="1" dirty="0" err="1">
                <a:solidFill>
                  <a:schemeClr val="accent1"/>
                </a:solidFill>
              </a:rPr>
              <a:t>dir</a:t>
            </a:r>
            <a:r>
              <a:rPr lang="pl-PL" sz="800" b="1" dirty="0">
                <a:solidFill>
                  <a:schemeClr val="accent1"/>
                </a:solidFill>
              </a:rPr>
              <a:t> -r </a:t>
            </a:r>
            <a:r>
              <a:rPr lang="pl-PL" sz="800" b="1" dirty="0" err="1">
                <a:solidFill>
                  <a:schemeClr val="accent1"/>
                </a:solidFill>
              </a:rPr>
              <a:t>requirements.txt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[5/5] COPY . .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l-PL" sz="800" dirty="0"/>
              <a:t>0.0s</a:t>
            </a:r>
          </a:p>
          <a:p>
            <a:r>
              <a:rPr lang="pl-PL" sz="800" dirty="0"/>
              <a:t> =&gt; </a:t>
            </a:r>
            <a:r>
              <a:rPr lang="pl-PL" sz="800" dirty="0" err="1"/>
              <a:t>exporting</a:t>
            </a:r>
            <a:r>
              <a:rPr lang="pl-PL" sz="800" dirty="0"/>
              <a:t> to image                 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exporting</a:t>
            </a:r>
            <a:r>
              <a:rPr lang="pl-PL" sz="800" dirty="0"/>
              <a:t> </a:t>
            </a:r>
            <a:r>
              <a:rPr lang="pl-PL" sz="800" dirty="0" err="1"/>
              <a:t>layers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writing</a:t>
            </a:r>
            <a:r>
              <a:rPr lang="pl-PL" sz="800" dirty="0"/>
              <a:t> image sha256:4f0f7ee6c714263af08248b1e7d3273ed70720e6fb164a190cfe6128035b6ae2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naming</a:t>
            </a:r>
            <a:r>
              <a:rPr lang="pl-PL" sz="800" dirty="0"/>
              <a:t> to </a:t>
            </a:r>
            <a:r>
              <a:rPr lang="pl-PL" sz="800" dirty="0" err="1"/>
              <a:t>docker.io</a:t>
            </a:r>
            <a:r>
              <a:rPr lang="pl-PL" sz="800" dirty="0"/>
              <a:t>/</a:t>
            </a:r>
            <a:r>
              <a:rPr lang="pl-PL" sz="800" dirty="0" err="1"/>
              <a:t>library</a:t>
            </a:r>
            <a:r>
              <a:rPr lang="pl-PL" sz="800" dirty="0"/>
              <a:t>/nowy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l-PL" sz="800" dirty="0" err="1"/>
              <a:t>What's</a:t>
            </a:r>
            <a:r>
              <a:rPr lang="pl-PL" sz="800" dirty="0"/>
              <a:t> </a:t>
            </a:r>
            <a:r>
              <a:rPr lang="pl-PL" sz="800" dirty="0" err="1"/>
              <a:t>next</a:t>
            </a:r>
            <a:r>
              <a:rPr lang="pl-PL" sz="800" dirty="0"/>
              <a:t>:</a:t>
            </a:r>
          </a:p>
          <a:p>
            <a:r>
              <a:rPr lang="pl-PL" sz="800" dirty="0"/>
              <a:t>    </a:t>
            </a:r>
            <a:r>
              <a:rPr lang="pl-PL" sz="800" dirty="0" err="1"/>
              <a:t>View</a:t>
            </a:r>
            <a:r>
              <a:rPr lang="pl-PL" sz="800" dirty="0"/>
              <a:t> a </a:t>
            </a:r>
            <a:r>
              <a:rPr lang="pl-PL" sz="800" dirty="0" err="1"/>
              <a:t>summary</a:t>
            </a:r>
            <a:r>
              <a:rPr lang="pl-PL" sz="800" dirty="0"/>
              <a:t> of image </a:t>
            </a:r>
            <a:r>
              <a:rPr lang="pl-PL" sz="800" dirty="0" err="1"/>
              <a:t>vulnerabilities</a:t>
            </a:r>
            <a:r>
              <a:rPr lang="pl-PL" sz="800" dirty="0"/>
              <a:t> and </a:t>
            </a:r>
            <a:r>
              <a:rPr lang="pl-PL" sz="800" dirty="0" err="1"/>
              <a:t>recommendations</a:t>
            </a:r>
            <a:r>
              <a:rPr lang="pl-PL" sz="800" dirty="0"/>
              <a:t> → </a:t>
            </a:r>
            <a:r>
              <a:rPr lang="pl-PL" sz="800" dirty="0" err="1"/>
              <a:t>docker</a:t>
            </a:r>
            <a:r>
              <a:rPr lang="pl-PL" sz="800" dirty="0"/>
              <a:t> </a:t>
            </a:r>
            <a:r>
              <a:rPr lang="pl-PL" sz="800" dirty="0" err="1"/>
              <a:t>scout</a:t>
            </a:r>
            <a:r>
              <a:rPr lang="pl-PL" sz="800" dirty="0"/>
              <a:t> </a:t>
            </a:r>
            <a:r>
              <a:rPr lang="pl-PL" sz="800" dirty="0" err="1"/>
              <a:t>quickview</a:t>
            </a:r>
            <a:r>
              <a:rPr lang="pl-PL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343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69A3-C212-B2B1-B806-90FE14AC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335340-3B8E-CB76-42E2-0045BDD5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56" y="431710"/>
            <a:ext cx="9955087" cy="1345269"/>
          </a:xfrm>
        </p:spPr>
        <p:txBody>
          <a:bodyPr>
            <a:normAutofit/>
          </a:bodyPr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– minimalizuj ilość warstw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ED269B9-F329-8851-D428-DB53019C25AB}"/>
              </a:ext>
            </a:extLst>
          </p:cNvPr>
          <p:cNvSpPr txBox="1"/>
          <p:nvPr/>
        </p:nvSpPr>
        <p:spPr>
          <a:xfrm>
            <a:off x="1818290" y="2880116"/>
            <a:ext cx="83452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CF8E6D"/>
                </a:solidFill>
                <a:effectLst/>
              </a:rPr>
              <a:t>FROM </a:t>
            </a:r>
            <a:r>
              <a:rPr lang="pl-PL" dirty="0">
                <a:solidFill>
                  <a:srgbClr val="BCBEC4"/>
                </a:solidFill>
                <a:effectLst/>
              </a:rPr>
              <a:t>python:3.12-slim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WORKDIR /</a:t>
            </a:r>
            <a:r>
              <a:rPr lang="pl-PL" dirty="0" err="1">
                <a:solidFill>
                  <a:srgbClr val="BCBEC4"/>
                </a:solidFill>
                <a:effectLst/>
              </a:rPr>
              <a:t>app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COPY </a:t>
            </a:r>
            <a:r>
              <a:rPr lang="pl-PL" dirty="0" err="1">
                <a:solidFill>
                  <a:srgbClr val="BCBEC4"/>
                </a:solidFill>
                <a:effectLst/>
              </a:rPr>
              <a:t>requirements.txt</a:t>
            </a:r>
            <a:r>
              <a:rPr lang="pl-PL" dirty="0">
                <a:solidFill>
                  <a:srgbClr val="BCBEC4"/>
                </a:solidFill>
                <a:effectLst/>
              </a:rPr>
              <a:t> .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RUN </a:t>
            </a:r>
            <a:r>
              <a:rPr lang="pl-PL" dirty="0">
                <a:solidFill>
                  <a:srgbClr val="C57633"/>
                </a:solidFill>
                <a:effectLst/>
              </a:rPr>
              <a:t>pip </a:t>
            </a:r>
            <a:r>
              <a:rPr lang="pl-PL" dirty="0" err="1">
                <a:solidFill>
                  <a:srgbClr val="BCBEC4"/>
                </a:solidFill>
                <a:effectLst/>
              </a:rPr>
              <a:t>install</a:t>
            </a:r>
            <a:r>
              <a:rPr lang="pl-PL" dirty="0">
                <a:solidFill>
                  <a:srgbClr val="BCBEC4"/>
                </a:solidFill>
                <a:effectLst/>
              </a:rPr>
              <a:t> </a:t>
            </a:r>
            <a:r>
              <a:rPr lang="pl-PL" dirty="0">
                <a:solidFill>
                  <a:srgbClr val="CF8E6D"/>
                </a:solidFill>
                <a:effectLst/>
              </a:rPr>
              <a:t>--</a:t>
            </a:r>
            <a:r>
              <a:rPr lang="pl-PL" dirty="0">
                <a:solidFill>
                  <a:srgbClr val="BCBEC4"/>
                </a:solidFill>
                <a:effectLst/>
              </a:rPr>
              <a:t>no-cache-</a:t>
            </a:r>
            <a:r>
              <a:rPr lang="pl-PL" dirty="0" err="1">
                <a:solidFill>
                  <a:srgbClr val="BCBEC4"/>
                </a:solidFill>
                <a:effectLst/>
              </a:rPr>
              <a:t>dir</a:t>
            </a:r>
            <a:r>
              <a:rPr lang="pl-PL" dirty="0">
                <a:solidFill>
                  <a:srgbClr val="BCBEC4"/>
                </a:solidFill>
                <a:effectLst/>
              </a:rPr>
              <a:t> </a:t>
            </a:r>
            <a:r>
              <a:rPr lang="pl-PL" dirty="0">
                <a:solidFill>
                  <a:srgbClr val="CF8E6D"/>
                </a:solidFill>
                <a:effectLst/>
              </a:rPr>
              <a:t>-</a:t>
            </a:r>
            <a:r>
              <a:rPr lang="pl-PL" dirty="0">
                <a:solidFill>
                  <a:srgbClr val="BCBEC4"/>
                </a:solidFill>
                <a:effectLst/>
              </a:rPr>
              <a:t>r </a:t>
            </a:r>
            <a:r>
              <a:rPr lang="pl-PL" dirty="0" err="1">
                <a:solidFill>
                  <a:srgbClr val="BCBEC4"/>
                </a:solidFill>
                <a:effectLst/>
              </a:rPr>
              <a:t>requirements.txt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COPY </a:t>
            </a:r>
            <a:r>
              <a:rPr lang="pl-PL" dirty="0">
                <a:solidFill>
                  <a:srgbClr val="BCBEC4"/>
                </a:solidFill>
                <a:effectLst/>
              </a:rPr>
              <a:t>. .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EXPOSE </a:t>
            </a:r>
            <a:r>
              <a:rPr lang="pl-PL" dirty="0">
                <a:solidFill>
                  <a:srgbClr val="2AACB8"/>
                </a:solidFill>
                <a:effectLst/>
              </a:rPr>
              <a:t>5000</a:t>
            </a:r>
            <a:br>
              <a:rPr lang="pl-PL" dirty="0">
                <a:solidFill>
                  <a:srgbClr val="2AACB8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CMD </a:t>
            </a:r>
            <a:r>
              <a:rPr lang="pl-PL" dirty="0">
                <a:solidFill>
                  <a:srgbClr val="BCBEC4"/>
                </a:solidFill>
                <a:effectLst/>
              </a:rPr>
              <a:t>[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 err="1">
                <a:solidFill>
                  <a:srgbClr val="6AAB73"/>
                </a:solidFill>
                <a:effectLst/>
              </a:rPr>
              <a:t>python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>
                <a:solidFill>
                  <a:srgbClr val="BCBEC4"/>
                </a:solidFill>
                <a:effectLst/>
              </a:rPr>
              <a:t>, 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 err="1">
                <a:solidFill>
                  <a:srgbClr val="6AAB73"/>
                </a:solidFill>
                <a:effectLst/>
              </a:rPr>
              <a:t>app.py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>
                <a:solidFill>
                  <a:srgbClr val="BCBEC4"/>
                </a:solidFill>
                <a:effectLst/>
              </a:rPr>
              <a:t>]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endParaRPr lang="pl-PL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41488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89F65C-AD49-D8F1-04DA-C69C3843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.</a:t>
            </a:r>
            <a:r>
              <a:rPr lang="pl-PL" dirty="0" err="1"/>
              <a:t>dockerignore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B16BE4-4E00-8A52-23A0-5040B069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Używaj .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dockerignore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Obraz 4" descr="Obraz zawierający tekst, Oprogramowanie multimedialne, oprogramowanie, zrzut ekranu&#10;&#10;Opis wygenerowany automatycznie">
            <a:extLst>
              <a:ext uri="{FF2B5EF4-FFF2-40B4-BE49-F238E27FC236}">
                <a16:creationId xmlns:a16="http://schemas.microsoft.com/office/drawing/2014/main" id="{2E09445E-4C62-A442-52B5-2538A2F2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29275"/>
            <a:ext cx="7772400" cy="27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49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EF4EAE-59DE-4EBD-CC20-7ABE43AB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>
                <a:effectLst/>
                <a:ea typeface="Arial" panose="020B0604020202020204" pitchFamily="34" charset="0"/>
              </a:rPr>
              <a:t>Best </a:t>
            </a:r>
            <a:r>
              <a:rPr lang="pl-PL" dirty="0" err="1">
                <a:effectLst/>
                <a:ea typeface="Arial" panose="020B0604020202020204" pitchFamily="34" charset="0"/>
              </a:rPr>
              <a:t>practice</a:t>
            </a:r>
            <a:r>
              <a:rPr lang="pl-PL" dirty="0">
                <a:effectLst/>
                <a:ea typeface="Arial" panose="020B0604020202020204" pitchFamily="34" charset="0"/>
              </a:rPr>
              <a:t> Multi-</a:t>
            </a:r>
            <a:r>
              <a:rPr lang="pl-PL" dirty="0" err="1">
                <a:effectLst/>
                <a:ea typeface="Arial" panose="020B0604020202020204" pitchFamily="34" charset="0"/>
              </a:rPr>
              <a:t>stage</a:t>
            </a:r>
            <a:r>
              <a:rPr lang="pl-PL" dirty="0">
                <a:effectLst/>
                <a:ea typeface="Arial" panose="020B0604020202020204" pitchFamily="34" charset="0"/>
              </a:rPr>
              <a:t> </a:t>
            </a:r>
            <a:r>
              <a:rPr lang="pl-PL" dirty="0" err="1">
                <a:effectLst/>
                <a:ea typeface="Arial" panose="020B0604020202020204" pitchFamily="34" charset="0"/>
              </a:rPr>
              <a:t>builds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6292DC-C97A-ED15-0E19-553F73D72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- Budowanie obrazu w oparciu o poprzedni obraz </a:t>
            </a:r>
          </a:p>
          <a:p>
            <a:r>
              <a:rPr lang="pl-PL" dirty="0"/>
              <a:t>- spłaszczanie ilości warstw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8D3AA0A-4B59-25E6-3832-7CBFBAC08EF8}"/>
              </a:ext>
            </a:extLst>
          </p:cNvPr>
          <p:cNvSpPr/>
          <p:nvPr/>
        </p:nvSpPr>
        <p:spPr>
          <a:xfrm>
            <a:off x="1282261" y="3951890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1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34DB42C-D1C2-2677-28C8-0D5DDDAF7558}"/>
              </a:ext>
            </a:extLst>
          </p:cNvPr>
          <p:cNvSpPr/>
          <p:nvPr/>
        </p:nvSpPr>
        <p:spPr>
          <a:xfrm>
            <a:off x="1282261" y="4516401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2 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E289F16-C300-B6BD-C1CE-EFA8C442407A}"/>
              </a:ext>
            </a:extLst>
          </p:cNvPr>
          <p:cNvSpPr/>
          <p:nvPr/>
        </p:nvSpPr>
        <p:spPr>
          <a:xfrm>
            <a:off x="1282261" y="5080912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3 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0F65576-2229-30A4-FFE0-3FF967A4B1FA}"/>
              </a:ext>
            </a:extLst>
          </p:cNvPr>
          <p:cNvSpPr/>
          <p:nvPr/>
        </p:nvSpPr>
        <p:spPr>
          <a:xfrm>
            <a:off x="1282260" y="5624403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4 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4E34BAF-6F8F-C630-9A79-86F47B57BF48}"/>
              </a:ext>
            </a:extLst>
          </p:cNvPr>
          <p:cNvSpPr txBox="1"/>
          <p:nvPr/>
        </p:nvSpPr>
        <p:spPr>
          <a:xfrm>
            <a:off x="1282259" y="3531530"/>
            <a:ext cx="227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1 </a:t>
            </a:r>
          </a:p>
        </p:txBody>
      </p:sp>
      <p:sp>
        <p:nvSpPr>
          <p:cNvPr id="9" name="Strzałka w prawo 8">
            <a:extLst>
              <a:ext uri="{FF2B5EF4-FFF2-40B4-BE49-F238E27FC236}">
                <a16:creationId xmlns:a16="http://schemas.microsoft.com/office/drawing/2014/main" id="{ABDD2D81-3729-6F59-2E38-7842F0A41CF5}"/>
              </a:ext>
            </a:extLst>
          </p:cNvPr>
          <p:cNvSpPr/>
          <p:nvPr/>
        </p:nvSpPr>
        <p:spPr>
          <a:xfrm>
            <a:off x="4235669" y="4737118"/>
            <a:ext cx="1744717" cy="564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33DEF75-86B8-0CFB-E9F5-91AF5B45E929}"/>
              </a:ext>
            </a:extLst>
          </p:cNvPr>
          <p:cNvSpPr txBox="1"/>
          <p:nvPr/>
        </p:nvSpPr>
        <p:spPr>
          <a:xfrm>
            <a:off x="6490135" y="3996588"/>
            <a:ext cx="227023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1 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4D74800E-11EB-00BE-D535-8D668DEC4E3D}"/>
              </a:ext>
            </a:extLst>
          </p:cNvPr>
          <p:cNvSpPr/>
          <p:nvPr/>
        </p:nvSpPr>
        <p:spPr>
          <a:xfrm>
            <a:off x="6490135" y="4455316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1 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7BAC2AD-B7F5-591D-76C5-127D08D1A738}"/>
              </a:ext>
            </a:extLst>
          </p:cNvPr>
          <p:cNvSpPr/>
          <p:nvPr/>
        </p:nvSpPr>
        <p:spPr>
          <a:xfrm>
            <a:off x="6490135" y="5080571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2 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33992C8-8462-5695-5902-6D436DA9F597}"/>
              </a:ext>
            </a:extLst>
          </p:cNvPr>
          <p:cNvSpPr txBox="1"/>
          <p:nvPr/>
        </p:nvSpPr>
        <p:spPr>
          <a:xfrm>
            <a:off x="6490134" y="3582558"/>
            <a:ext cx="227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1931325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Duże obrazy bez multistage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5A82"/>
                </a:solidFill>
              </a:rPr>
              <a:t>Dockerfile bez optymalizacji – </a:t>
            </a:r>
            <a:r>
              <a:rPr lang="en-US" sz="1867" b="1" dirty="0" err="1">
                <a:solidFill>
                  <a:srgbClr val="065A82"/>
                </a:solidFill>
              </a:rPr>
              <a:t>typowy</a:t>
            </a:r>
            <a:r>
              <a:rPr lang="en-US" sz="1867" b="1" dirty="0">
                <a:solidFill>
                  <a:srgbClr val="065A82"/>
                </a:solidFill>
              </a:rPr>
              <a:t> błąd: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975360" y="2072640"/>
            <a:ext cx="1024128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1219200" y="225552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</a:t>
            </a:r>
            <a:endParaRPr lang="en-US" sz="1600" dirty="0"/>
          </a:p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600" dirty="0"/>
          </a:p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600" dirty="0"/>
          </a:p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</a:t>
            </a:r>
            <a:endParaRPr lang="en-US" sz="1600" dirty="0"/>
          </a:p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</a:t>
            </a:r>
            <a:endParaRPr lang="en-US" sz="1600" dirty="0"/>
          </a:p>
          <a:p>
            <a:r>
              <a:rPr lang="en-US" sz="16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["npm", "start"]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5360" y="4511040"/>
            <a:ext cx="10241280" cy="1828800"/>
          </a:xfrm>
          <a:prstGeom prst="rect">
            <a:avLst/>
          </a:prstGeom>
          <a:solidFill>
            <a:srgbClr val="FFF3CD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1219200" y="4693920"/>
            <a:ext cx="975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❌ Obraz zawiera wszystko: build tools, npm cache, tymczasowe pliki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❌ node_modules (~300-500 MB) i build artifacts są w produkcji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❌ Rozmiar obrazu: ~1-2 GB zamiast ~100-200 MB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Czym jest Docker Multistage Build?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5A82"/>
                </a:solidFill>
              </a:rPr>
              <a:t>Wieloetapowy build pozwala na: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19456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Zainstalowanie wszystkich build tools w etapie tymczasowym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Skompilowanie/budowanie aplikacji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Skopiowanie TYLKO final output do ostatecznego obrazu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Pominięcie build artifacts, cache i narzędzi w produkcji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975360" y="4145280"/>
            <a:ext cx="4876800" cy="2194560"/>
          </a:xfrm>
          <a:prstGeom prst="rect">
            <a:avLst/>
          </a:prstGeom>
          <a:solidFill>
            <a:srgbClr val="FFE6E6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7" name="Text 5"/>
          <p:cNvSpPr/>
          <p:nvPr/>
        </p:nvSpPr>
        <p:spPr>
          <a:xfrm>
            <a:off x="975360" y="4145280"/>
            <a:ext cx="487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E67E22"/>
                </a:solidFill>
              </a:rPr>
              <a:t>Bez multistage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E67E22"/>
                </a:solidFill>
              </a:rPr>
              <a:t>1-2 GB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6339840" y="4145280"/>
            <a:ext cx="4876800" cy="2194560"/>
          </a:xfrm>
          <a:prstGeom prst="rect">
            <a:avLst/>
          </a:prstGeom>
          <a:solidFill>
            <a:srgbClr val="E6FF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9" name="Text 7"/>
          <p:cNvSpPr/>
          <p:nvPr/>
        </p:nvSpPr>
        <p:spPr>
          <a:xfrm>
            <a:off x="6339840" y="4145280"/>
            <a:ext cx="487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7AE60"/>
                </a:solidFill>
              </a:rPr>
              <a:t>Z multistage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27AE60"/>
                </a:solidFill>
              </a:rPr>
              <a:t>100-300 MB</a:t>
            </a:r>
            <a:endParaRPr lang="en-US" sz="213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Dockerfile z multistage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5A82"/>
                </a:solidFill>
              </a:rPr>
              <a:t>Struktura: StageBuilder → Stage Runtime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975360" y="2072640"/>
            <a:ext cx="10241280" cy="4145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1219200" y="2255520"/>
            <a:ext cx="975360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BUILDER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 AS builder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/build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  # tworzy /build/dist</a:t>
            </a:r>
            <a:endParaRPr lang="en-US" sz="1333" dirty="0">
              <a:solidFill>
                <a:schemeClr val="bg1"/>
              </a:solidFill>
            </a:endParaRPr>
          </a:p>
          <a:p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RUNTIME (FINAL)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 # lżejszy!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/build/dist /app/dist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/build/node_modules ./node_modules</a:t>
            </a:r>
            <a:endParaRPr lang="en-US" sz="1333" dirty="0">
              <a:solidFill>
                <a:schemeClr val="bg1"/>
              </a:solidFill>
            </a:endParaRPr>
          </a:p>
          <a:p>
            <a:r>
              <a:rPr lang="en-US" sz="13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"dist/index.js"]</a:t>
            </a:r>
            <a:endParaRPr lang="en-US" sz="13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1: Node.js aplikacja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Scenario: React app z npm 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5360" y="2133600"/>
            <a:ext cx="10241280" cy="3413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l-PL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2316480"/>
            <a:ext cx="9753600" cy="3230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stage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 AS builder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</a:t>
            </a:r>
            <a:r>
              <a:rPr lang="en-US" sz="1133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r>
              <a:rPr lang="en-US" sz="1133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 --only=production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r>
              <a:rPr lang="en-US" sz="1133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build</a:t>
            </a:r>
            <a:endParaRPr lang="en-US" sz="1133" dirty="0">
              <a:solidFill>
                <a:schemeClr val="bg1"/>
              </a:solidFill>
            </a:endParaRPr>
          </a:p>
          <a:p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 stage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/app/build ./build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</a:t>
            </a:r>
            <a:r>
              <a:rPr lang="en-US" sz="1133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</a:t>
            </a:r>
            <a:r>
              <a:rPr lang="en-US" sz="1133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1133" dirty="0">
              <a:solidFill>
                <a:schemeClr val="bg1"/>
              </a:solidFill>
            </a:endParaRPr>
          </a:p>
          <a:p>
            <a:r>
              <a:rPr lang="en-US" sz="1133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"build/index.js"]</a:t>
            </a:r>
            <a:endParaRPr lang="en-US" sz="11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2: Java/Maven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Scenario: Spring Boot aplikacja – Maven 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5360" y="2133600"/>
            <a:ext cx="1024128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1219200" y="2316480"/>
            <a:ext cx="9753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maven:3.9 AS builder</a:t>
            </a:r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pom.xml .</a:t>
            </a:r>
            <a:endParaRPr lang="en-US" sz="1267" dirty="0"/>
          </a:p>
          <a:p>
            <a:r>
              <a:rPr lang="en-US" sz="12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dependency:go-offline</a:t>
            </a:r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src src</a:t>
            </a:r>
            <a:endParaRPr lang="en-US" sz="1267" dirty="0"/>
          </a:p>
          <a:p>
            <a:r>
              <a:rPr lang="en-US" sz="12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clean package -DskipTests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openjdk:21-slim</a:t>
            </a:r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67" dirty="0"/>
          </a:p>
          <a:p>
            <a:r>
              <a:rPr lang="en-US" sz="1267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/src/target/*.jar app.jar</a:t>
            </a:r>
            <a:endParaRPr lang="en-US" sz="1267" dirty="0">
              <a:solidFill>
                <a:schemeClr val="bg1"/>
              </a:solidFill>
            </a:endParaRPr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8080</a:t>
            </a:r>
            <a:endParaRPr lang="en-US" sz="1267" dirty="0"/>
          </a:p>
          <a:p>
            <a:r>
              <a:rPr lang="en-US" sz="1267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["java", "-jar", "app.jar"]</a:t>
            </a:r>
            <a:endParaRPr lang="en-US" sz="1267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Zaawansowane techniki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463040"/>
            <a:ext cx="1024128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1. Cachowanie zależności – oddzielne kroki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    </a:t>
            </a:r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1600" dirty="0"/>
          </a:p>
          <a:p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1600" dirty="0"/>
          </a:p>
          <a:p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 (kopia kodu oddzielnie)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    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2. Zachowanie uprawnień plików    </a:t>
            </a:r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--chown=appuser:appgroup /app . .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    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3. Wielokrotne stage'i – jedna zależność w kilku    </a:t>
            </a:r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base AS builder1</a:t>
            </a:r>
            <a:endParaRPr lang="en-US" sz="1600" dirty="0"/>
          </a:p>
          <a:p>
            <a:r>
              <a:rPr lang="en-US" sz="1467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base AS builder2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70560" y="1091565"/>
            <a:ext cx="10241280" cy="1097280"/>
          </a:xfrm>
          <a:prstGeom prst="rect">
            <a:avLst/>
          </a:prstGeom>
          <a:solidFill>
            <a:srgbClr val="FFE6E6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792480" y="1152525"/>
            <a:ext cx="99974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C3E50"/>
                </a:solidFill>
              </a:rPr>
              <a:t>❌ Błąd: COPY --from=builder: no such file or directory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670560" y="2249805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27AE60"/>
                </a:solidFill>
              </a:rPr>
              <a:t>✅ Rozwiązanie: Sprawdź WORKDIR w builder stage i dokładną ścieżkę źródłową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70560" y="3103245"/>
            <a:ext cx="10241280" cy="1097280"/>
          </a:xfrm>
          <a:prstGeom prst="rect">
            <a:avLst/>
          </a:prstGeom>
          <a:solidFill>
            <a:srgbClr val="FFE6E6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792480" y="3164205"/>
            <a:ext cx="99974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C3E50"/>
                </a:solidFill>
              </a:rPr>
              <a:t>❌ Błąd: stage name 'builder' not found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70560" y="4261485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27AE60"/>
                </a:solidFill>
              </a:rPr>
              <a:t>✅ Rozwiązanie: Upewnij się, że FROM XXX AS builder jest wpisany bez błędów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70560" y="5114925"/>
            <a:ext cx="10241280" cy="1097280"/>
          </a:xfrm>
          <a:prstGeom prst="rect">
            <a:avLst/>
          </a:prstGeom>
          <a:solidFill>
            <a:srgbClr val="FFE6E6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792480" y="5175885"/>
            <a:ext cx="99974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C3E50"/>
                </a:solidFill>
              </a:rPr>
              <a:t>❌ Błąd: obraz wciąż ma 1 GB – multistage nie działa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70560" y="6273165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27AE60"/>
                </a:solidFill>
              </a:rPr>
              <a:t>✅ Rozwiązanie: Skopiowałeś build artifacts? Nie kopiuj całego . . – skopiuj tylko dist/build/output</a:t>
            </a:r>
            <a:endParaRPr lang="en-US" sz="1467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6B21-F9BB-4782-4F68-C72A90FE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7E8B78-843A-7C5E-29A6-063CFCF7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E1A59D-B257-BEB9-8D74-2E057CE9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9493994" cy="3651504"/>
          </a:xfrm>
        </p:spPr>
        <p:txBody>
          <a:bodyPr/>
          <a:lstStyle/>
          <a:p>
            <a:r>
              <a:rPr lang="pl-PL" dirty="0"/>
              <a:t>1. Przy </a:t>
            </a:r>
            <a:r>
              <a:rPr lang="pl-PL" b="1" dirty="0" err="1"/>
              <a:t>multistage</a:t>
            </a:r>
            <a:r>
              <a:rPr lang="pl-PL" dirty="0"/>
              <a:t> często spotkasz też budowanie konkretnego etapu:</a:t>
            </a:r>
          </a:p>
          <a:p>
            <a:endParaRPr lang="pl-PL" dirty="0"/>
          </a:p>
          <a:p>
            <a:r>
              <a:rPr lang="pl-PL" dirty="0"/>
              <a:t>   </a:t>
            </a:r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Dockerfile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--target </a:t>
            </a:r>
            <a:r>
              <a:rPr lang="pl-PL" dirty="0" err="1"/>
              <a:t>builder</a:t>
            </a:r>
            <a:r>
              <a:rPr lang="pl-PL" dirty="0"/>
              <a:t> 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0F85E3-96E8-1D3B-0C42-F73BE5E06862}"/>
              </a:ext>
            </a:extLst>
          </p:cNvPr>
          <p:cNvSpPr txBox="1"/>
          <p:nvPr/>
        </p:nvSpPr>
        <p:spPr>
          <a:xfrm>
            <a:off x="1920240" y="4147182"/>
            <a:ext cx="9493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Do czego służy --target </a:t>
            </a:r>
            <a:r>
              <a:rPr lang="pl-PL" b="1" dirty="0" err="1"/>
              <a:t>builder</a:t>
            </a:r>
            <a:endParaRPr lang="pl-PL" b="1" dirty="0"/>
          </a:p>
          <a:p>
            <a:r>
              <a:rPr lang="pl-PL" dirty="0"/>
              <a:t>Opcja --target pozwala zbudować obraz tylko do wskazanego etapu.</a:t>
            </a:r>
          </a:p>
          <a:p>
            <a:endParaRPr lang="pl-PL" dirty="0"/>
          </a:p>
          <a:p>
            <a:r>
              <a:rPr lang="pl-PL" dirty="0"/>
              <a:t>2. W tym przypadku  etap </a:t>
            </a:r>
            <a:r>
              <a:rPr lang="pl-PL" b="1" dirty="0" err="1">
                <a:solidFill>
                  <a:srgbClr val="7030A0"/>
                </a:solidFill>
              </a:rPr>
              <a:t>builder</a:t>
            </a:r>
            <a:r>
              <a:rPr lang="pl-PL" dirty="0"/>
              <a:t> to część, w której instalowane są zależności: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1463D9A-C187-DF83-9945-7733F5252F19}"/>
              </a:ext>
            </a:extLst>
          </p:cNvPr>
          <p:cNvSpPr txBox="1"/>
          <p:nvPr/>
        </p:nvSpPr>
        <p:spPr>
          <a:xfrm>
            <a:off x="1920240" y="53813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7030A0"/>
                </a:solidFill>
              </a:rPr>
              <a:t>FROM</a:t>
            </a:r>
            <a:r>
              <a:rPr lang="pl-PL" dirty="0"/>
              <a:t> python:3.12-slim </a:t>
            </a:r>
            <a:r>
              <a:rPr lang="pl-PL" dirty="0">
                <a:solidFill>
                  <a:srgbClr val="7030A0"/>
                </a:solidFill>
              </a:rPr>
              <a:t>AS</a:t>
            </a:r>
            <a:r>
              <a:rPr lang="pl-PL" dirty="0"/>
              <a:t> </a:t>
            </a:r>
            <a:r>
              <a:rPr lang="pl-PL" dirty="0" err="1"/>
              <a:t>builder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040935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A6D4C6-6458-0530-5F18-5C30B104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3986" cy="1639888"/>
          </a:xfrm>
        </p:spPr>
        <p:txBody>
          <a:bodyPr anchor="b">
            <a:normAutofit/>
          </a:bodyPr>
          <a:lstStyle/>
          <a:p>
            <a:r>
              <a:rPr lang="pl-PL" dirty="0"/>
              <a:t>Lab 3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5D31A1-3C80-7FD8-85FA-39FFD595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183986" cy="3651250"/>
          </a:xfrm>
        </p:spPr>
        <p:txBody>
          <a:bodyPr>
            <a:normAutofit/>
          </a:bodyPr>
          <a:lstStyle/>
          <a:p>
            <a:r>
              <a:rPr lang="pl-PL" b="1" dirty="0"/>
              <a:t>Cel</a:t>
            </a:r>
          </a:p>
          <a:p>
            <a:r>
              <a:rPr lang="pl-PL" dirty="0"/>
              <a:t>Zrobisz: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prostą aplikację </a:t>
            </a:r>
            <a:r>
              <a:rPr lang="pl-PL" dirty="0" err="1"/>
              <a:t>FastAPI</a:t>
            </a:r>
            <a:r>
              <a:rPr lang="pl-PL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zwykły </a:t>
            </a:r>
            <a:r>
              <a:rPr lang="pl-PL" dirty="0" err="1"/>
              <a:t>Dockerfile</a:t>
            </a:r>
            <a:r>
              <a:rPr lang="pl-PL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potem </a:t>
            </a:r>
            <a:r>
              <a:rPr lang="pl-PL" dirty="0" err="1"/>
              <a:t>Dockerfile</a:t>
            </a:r>
            <a:r>
              <a:rPr lang="pl-PL" dirty="0"/>
              <a:t> z </a:t>
            </a:r>
            <a:r>
              <a:rPr lang="pl-PL" b="1" dirty="0" err="1"/>
              <a:t>multistage</a:t>
            </a:r>
            <a:r>
              <a:rPr lang="pl-PL" b="1" dirty="0"/>
              <a:t> </a:t>
            </a:r>
            <a:r>
              <a:rPr lang="pl-PL" b="1" dirty="0" err="1"/>
              <a:t>build</a:t>
            </a:r>
            <a:r>
              <a:rPr lang="pl-PL" b="1" dirty="0"/>
              <a:t> </a:t>
            </a:r>
            <a:r>
              <a:rPr lang="pl-PL" dirty="0"/>
              <a:t>i porównasz efekt.</a:t>
            </a:r>
          </a:p>
          <a:p>
            <a:endParaRPr lang="pl-PL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0577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19069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Obraz 4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17028B2A-6A0C-0836-4A6F-4A7A7953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049" y="2654558"/>
            <a:ext cx="3249406" cy="154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72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A2CA16-4CA7-61CC-EB54-9CA5D7D3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098FAB-1A5D-5B62-7DC6-1944AFA6B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Użyj opcji -f.</a:t>
            </a:r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Dockerfile.dev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B3A8115-3D21-4FEA-2245-827D12741E0D}"/>
              </a:ext>
            </a:extLst>
          </p:cNvPr>
          <p:cNvSpPr txBox="1"/>
          <p:nvPr/>
        </p:nvSpPr>
        <p:spPr>
          <a:xfrm>
            <a:off x="1920240" y="436597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To znaczy:</a:t>
            </a:r>
          </a:p>
          <a:p>
            <a:r>
              <a:rPr lang="pl-PL" dirty="0"/>
              <a:t>-f </a:t>
            </a:r>
            <a:r>
              <a:rPr lang="pl-PL" dirty="0" err="1"/>
              <a:t>Dockerfile.dev</a:t>
            </a:r>
            <a:r>
              <a:rPr lang="pl-PL" dirty="0"/>
              <a:t> — wskaż inny plik</a:t>
            </a:r>
          </a:p>
          <a:p>
            <a:r>
              <a:rPr lang="pl-PL" dirty="0"/>
              <a:t>-t moja-</a:t>
            </a:r>
            <a:r>
              <a:rPr lang="pl-PL" dirty="0" err="1"/>
              <a:t>apka</a:t>
            </a:r>
            <a:r>
              <a:rPr lang="pl-PL" dirty="0"/>
              <a:t> — nadaj nazwę obrazowi</a:t>
            </a:r>
          </a:p>
          <a:p>
            <a:r>
              <a:rPr lang="pl-PL" dirty="0"/>
              <a:t>. — kontekst budowania, czyli bieżący katalog</a:t>
            </a:r>
          </a:p>
        </p:txBody>
      </p:sp>
    </p:spTree>
    <p:extLst>
      <p:ext uri="{BB962C8B-B14F-4D97-AF65-F5344CB8AC3E}">
        <p14:creationId xmlns:p14="http://schemas.microsoft.com/office/powerpoint/2010/main" val="2105749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E0BF-CDD6-1EE3-5498-1BAF1024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0CD11C-C921-53E8-2C8E-37F2B925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E05A0E-E9D4-D514-BE48-5594364E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2175641"/>
          </a:xfrm>
        </p:spPr>
        <p:txBody>
          <a:bodyPr/>
          <a:lstStyle/>
          <a:p>
            <a:r>
              <a:rPr lang="pl-PL" b="1" dirty="0"/>
              <a:t>1. Jeśli plik jest w innym katalogu:</a:t>
            </a:r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</a:t>
            </a:r>
            <a:r>
              <a:rPr lang="pl-PL" dirty="0"/>
              <a:t>/</a:t>
            </a:r>
            <a:r>
              <a:rPr lang="pl-PL" dirty="0" err="1"/>
              <a:t>Dockerfile.dev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018C05D-91CE-1A3B-FA63-B39582A2DAB6}"/>
              </a:ext>
            </a:extLst>
          </p:cNvPr>
          <p:cNvSpPr txBox="1"/>
          <p:nvPr/>
        </p:nvSpPr>
        <p:spPr>
          <a:xfrm>
            <a:off x="1920240" y="4487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2. Możesz też podać zupełnie inną nazwę, np.: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2F22A72-E5F9-4AF1-F876-76A273AAD526}"/>
              </a:ext>
            </a:extLst>
          </p:cNvPr>
          <p:cNvSpPr txBox="1"/>
          <p:nvPr/>
        </p:nvSpPr>
        <p:spPr>
          <a:xfrm>
            <a:off x="1920240" y="51388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MyFastApiImage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3880796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9BB7E9A-6937-4BF0-9F51-A20F197B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3D24BE-5F9F-F8AD-75EB-58C41EBE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2"/>
            <a:ext cx="5295569" cy="1822123"/>
          </a:xfrm>
        </p:spPr>
        <p:txBody>
          <a:bodyPr anchor="b">
            <a:normAutofit/>
          </a:bodyPr>
          <a:lstStyle/>
          <a:p>
            <a:r>
              <a:rPr lang="pl-PL" dirty="0"/>
              <a:t>Moduł 3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B17436-13AA-803B-A6DE-7A19C136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6720"/>
            <a:ext cx="5181599" cy="346751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sz="1500" b="1" dirty="0">
                <a:effectLst/>
                <a:latin typeface="Arial" panose="020B0604020202020204" pitchFamily="34" charset="0"/>
              </a:rPr>
              <a:t>Cele </a:t>
            </a:r>
            <a:r>
              <a:rPr lang="en-US" sz="1500" b="1" dirty="0" err="1">
                <a:effectLst/>
                <a:latin typeface="Arial" panose="020B0604020202020204" pitchFamily="34" charset="0"/>
              </a:rPr>
              <a:t>modułu</a:t>
            </a:r>
            <a:endParaRPr lang="pl-PL" sz="1500" b="1" dirty="0"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Orkiestracja wielu kontenerów lokalnie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lang="pl-PL" sz="1500" b="1" dirty="0"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docker-</a:t>
            </a:r>
            <a:r>
              <a:rPr lang="en-US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compose.yml</a:t>
            </a: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services, volumes, networks</a:t>
            </a:r>
            <a:endParaRPr lang="pl-PL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Komendy</a:t>
            </a: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compose up, down, logs, exec</a:t>
            </a:r>
            <a:endParaRPr lang="pl-PL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Linking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kontenerów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Aplikacja </a:t>
            </a: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multi-tier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(web + </a:t>
            </a: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database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>
              <a:lnSpc>
                <a:spcPct val="130000"/>
              </a:lnSpc>
            </a:pPr>
            <a:endParaRPr lang="pl-PL" sz="1500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E0939753-89D7-48A8-8441-B9FF25CE8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4167" y="0"/>
            <a:ext cx="5687681" cy="5708856"/>
          </a:xfrm>
          <a:custGeom>
            <a:avLst/>
            <a:gdLst>
              <a:gd name="connsiteX0" fmla="*/ 2787282 w 5687681"/>
              <a:gd name="connsiteY0" fmla="*/ 0 h 5708856"/>
              <a:gd name="connsiteX1" fmla="*/ 3988996 w 5687681"/>
              <a:gd name="connsiteY1" fmla="*/ 0 h 5708856"/>
              <a:gd name="connsiteX2" fmla="*/ 4236253 w 5687681"/>
              <a:gd name="connsiteY2" fmla="*/ 68070 h 5708856"/>
              <a:gd name="connsiteX3" fmla="*/ 4483543 w 5687681"/>
              <a:gd name="connsiteY3" fmla="*/ 168573 h 5708856"/>
              <a:gd name="connsiteX4" fmla="*/ 5265611 w 5687681"/>
              <a:gd name="connsiteY4" fmla="*/ 790441 h 5708856"/>
              <a:gd name="connsiteX5" fmla="*/ 5682608 w 5687681"/>
              <a:gd name="connsiteY5" fmla="*/ 1499885 h 5708856"/>
              <a:gd name="connsiteX6" fmla="*/ 5687681 w 5687681"/>
              <a:gd name="connsiteY6" fmla="*/ 1513862 h 5708856"/>
              <a:gd name="connsiteX7" fmla="*/ 5687681 w 5687681"/>
              <a:gd name="connsiteY7" fmla="*/ 3841322 h 5708856"/>
              <a:gd name="connsiteX8" fmla="*/ 5651147 w 5687681"/>
              <a:gd name="connsiteY8" fmla="*/ 3896489 h 5708856"/>
              <a:gd name="connsiteX9" fmla="*/ 4734255 w 5687681"/>
              <a:gd name="connsiteY9" fmla="*/ 4737639 h 5708856"/>
              <a:gd name="connsiteX10" fmla="*/ 4532663 w 5687681"/>
              <a:gd name="connsiteY10" fmla="*/ 4898543 h 5708856"/>
              <a:gd name="connsiteX11" fmla="*/ 2876165 w 5687681"/>
              <a:gd name="connsiteY11" fmla="*/ 5708856 h 5708856"/>
              <a:gd name="connsiteX12" fmla="*/ 694066 w 5687681"/>
              <a:gd name="connsiteY12" fmla="*/ 4391717 h 5708856"/>
              <a:gd name="connsiteX13" fmla="*/ 461517 w 5687681"/>
              <a:gd name="connsiteY13" fmla="*/ 4054756 h 5708856"/>
              <a:gd name="connsiteX14" fmla="*/ 0 w 5687681"/>
              <a:gd name="connsiteY14" fmla="*/ 2993139 h 5708856"/>
              <a:gd name="connsiteX15" fmla="*/ 278855 w 5687681"/>
              <a:gd name="connsiteY15" fmla="*/ 1849819 h 5708856"/>
              <a:gd name="connsiteX16" fmla="*/ 1047879 w 5687681"/>
              <a:gd name="connsiteY16" fmla="*/ 867400 h 5708856"/>
              <a:gd name="connsiteX17" fmla="*/ 2159714 w 5687681"/>
              <a:gd name="connsiteY17" fmla="*/ 186098 h 5708856"/>
              <a:gd name="connsiteX18" fmla="*/ 2785137 w 5687681"/>
              <a:gd name="connsiteY18" fmla="*/ 372 h 570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87681" h="5708856">
                <a:moveTo>
                  <a:pt x="2787282" y="0"/>
                </a:moveTo>
                <a:lnTo>
                  <a:pt x="3988996" y="0"/>
                </a:lnTo>
                <a:lnTo>
                  <a:pt x="4236253" y="68070"/>
                </a:lnTo>
                <a:cubicBezTo>
                  <a:pt x="4321147" y="96843"/>
                  <a:pt x="4403628" y="130356"/>
                  <a:pt x="4483543" y="168573"/>
                </a:cubicBezTo>
                <a:cubicBezTo>
                  <a:pt x="4783119" y="311949"/>
                  <a:pt x="5046239" y="521215"/>
                  <a:pt x="5265611" y="790441"/>
                </a:cubicBezTo>
                <a:cubicBezTo>
                  <a:pt x="5433740" y="996857"/>
                  <a:pt x="5573537" y="1235870"/>
                  <a:pt x="5682608" y="1499885"/>
                </a:cubicBezTo>
                <a:lnTo>
                  <a:pt x="5687681" y="1513862"/>
                </a:lnTo>
                <a:lnTo>
                  <a:pt x="5687681" y="3841322"/>
                </a:lnTo>
                <a:lnTo>
                  <a:pt x="5651147" y="3896489"/>
                </a:lnTo>
                <a:cubicBezTo>
                  <a:pt x="5427171" y="4186934"/>
                  <a:pt x="5090625" y="4454446"/>
                  <a:pt x="4734255" y="4737639"/>
                </a:cubicBezTo>
                <a:cubicBezTo>
                  <a:pt x="4668506" y="4789825"/>
                  <a:pt x="4600584" y="4843856"/>
                  <a:pt x="4532663" y="4898543"/>
                </a:cubicBezTo>
                <a:cubicBezTo>
                  <a:pt x="3924681" y="5387974"/>
                  <a:pt x="3480945" y="5708856"/>
                  <a:pt x="2876165" y="5708856"/>
                </a:cubicBezTo>
                <a:cubicBezTo>
                  <a:pt x="1954665" y="5708856"/>
                  <a:pt x="1302047" y="5314966"/>
                  <a:pt x="694066" y="4391717"/>
                </a:cubicBezTo>
                <a:cubicBezTo>
                  <a:pt x="614503" y="4270875"/>
                  <a:pt x="536731" y="4160972"/>
                  <a:pt x="461517" y="4054756"/>
                </a:cubicBezTo>
                <a:cubicBezTo>
                  <a:pt x="149788" y="3614348"/>
                  <a:pt x="0" y="3385316"/>
                  <a:pt x="0" y="2993139"/>
                </a:cubicBezTo>
                <a:cubicBezTo>
                  <a:pt x="0" y="2603731"/>
                  <a:pt x="93889" y="2219065"/>
                  <a:pt x="278855" y="1849819"/>
                </a:cubicBezTo>
                <a:cubicBezTo>
                  <a:pt x="459854" y="1488610"/>
                  <a:pt x="718625" y="1157977"/>
                  <a:pt x="1047879" y="867400"/>
                </a:cubicBezTo>
                <a:cubicBezTo>
                  <a:pt x="1371504" y="581701"/>
                  <a:pt x="1755887" y="346080"/>
                  <a:pt x="2159714" y="186098"/>
                </a:cubicBezTo>
                <a:cubicBezTo>
                  <a:pt x="2367064" y="103803"/>
                  <a:pt x="2576044" y="41801"/>
                  <a:pt x="2785137" y="37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F5CCFC5-858F-4B45-9B10-D49DD028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5450" y="0"/>
            <a:ext cx="5866550" cy="5788550"/>
          </a:xfrm>
          <a:custGeom>
            <a:avLst/>
            <a:gdLst>
              <a:gd name="connsiteX0" fmla="*/ 2331396 w 5798121"/>
              <a:gd name="connsiteY0" fmla="*/ 0 h 5788550"/>
              <a:gd name="connsiteX1" fmla="*/ 4658651 w 5798121"/>
              <a:gd name="connsiteY1" fmla="*/ 0 h 5788550"/>
              <a:gd name="connsiteX2" fmla="*/ 4682835 w 5798121"/>
              <a:gd name="connsiteY2" fmla="*/ 9816 h 5788550"/>
              <a:gd name="connsiteX3" fmla="*/ 5499667 w 5798121"/>
              <a:gd name="connsiteY3" fmla="*/ 658449 h 5788550"/>
              <a:gd name="connsiteX4" fmla="*/ 5665313 w 5798121"/>
              <a:gd name="connsiteY4" fmla="*/ 884789 h 5788550"/>
              <a:gd name="connsiteX5" fmla="*/ 5798121 w 5798121"/>
              <a:gd name="connsiteY5" fmla="*/ 1110681 h 5788550"/>
              <a:gd name="connsiteX6" fmla="*/ 5798121 w 5798121"/>
              <a:gd name="connsiteY6" fmla="*/ 4016954 h 5788550"/>
              <a:gd name="connsiteX7" fmla="*/ 5706359 w 5798121"/>
              <a:gd name="connsiteY7" fmla="*/ 4121532 h 5788550"/>
              <a:gd name="connsiteX8" fmla="*/ 4944692 w 5798121"/>
              <a:gd name="connsiteY8" fmla="*/ 4775532 h 5788550"/>
              <a:gd name="connsiteX9" fmla="*/ 4734137 w 5798121"/>
              <a:gd name="connsiteY9" fmla="*/ 4943362 h 5788550"/>
              <a:gd name="connsiteX10" fmla="*/ 3004009 w 5798121"/>
              <a:gd name="connsiteY10" fmla="*/ 5788550 h 5788550"/>
              <a:gd name="connsiteX11" fmla="*/ 724917 w 5798121"/>
              <a:gd name="connsiteY11" fmla="*/ 4414722 h 5788550"/>
              <a:gd name="connsiteX12" fmla="*/ 482031 w 5798121"/>
              <a:gd name="connsiteY12" fmla="*/ 4063258 h 5788550"/>
              <a:gd name="connsiteX13" fmla="*/ 0 w 5798121"/>
              <a:gd name="connsiteY13" fmla="*/ 2955950 h 5788550"/>
              <a:gd name="connsiteX14" fmla="*/ 291250 w 5798121"/>
              <a:gd name="connsiteY14" fmla="*/ 1763422 h 5788550"/>
              <a:gd name="connsiteX15" fmla="*/ 1094457 w 5798121"/>
              <a:gd name="connsiteY15" fmla="*/ 738720 h 5788550"/>
              <a:gd name="connsiteX16" fmla="*/ 2255713 w 5798121"/>
              <a:gd name="connsiteY16" fmla="*/ 28095 h 578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8121" h="5788550">
                <a:moveTo>
                  <a:pt x="2331396" y="0"/>
                </a:moveTo>
                <a:lnTo>
                  <a:pt x="4658651" y="0"/>
                </a:lnTo>
                <a:lnTo>
                  <a:pt x="4682835" y="9816"/>
                </a:lnTo>
                <a:cubicBezTo>
                  <a:pt x="4995727" y="159362"/>
                  <a:pt x="5270543" y="377635"/>
                  <a:pt x="5499667" y="658449"/>
                </a:cubicBezTo>
                <a:cubicBezTo>
                  <a:pt x="5558201" y="730215"/>
                  <a:pt x="5613447" y="805760"/>
                  <a:pt x="5665313" y="884789"/>
                </a:cubicBezTo>
                <a:lnTo>
                  <a:pt x="5798121" y="1110681"/>
                </a:lnTo>
                <a:lnTo>
                  <a:pt x="5798121" y="4016954"/>
                </a:lnTo>
                <a:lnTo>
                  <a:pt x="5706359" y="4121532"/>
                </a:lnTo>
                <a:cubicBezTo>
                  <a:pt x="5491360" y="4341659"/>
                  <a:pt x="5223849" y="4553996"/>
                  <a:pt x="4944692" y="4775532"/>
                </a:cubicBezTo>
                <a:cubicBezTo>
                  <a:pt x="4876021" y="4829964"/>
                  <a:pt x="4805079" y="4886320"/>
                  <a:pt x="4734137" y="4943362"/>
                </a:cubicBezTo>
                <a:cubicBezTo>
                  <a:pt x="4099133" y="5453857"/>
                  <a:pt x="3635672" y="5788550"/>
                  <a:pt x="3004009" y="5788550"/>
                </a:cubicBezTo>
                <a:cubicBezTo>
                  <a:pt x="2041550" y="5788550"/>
                  <a:pt x="1359922" y="5377707"/>
                  <a:pt x="724917" y="4414722"/>
                </a:cubicBezTo>
                <a:cubicBezTo>
                  <a:pt x="641818" y="4288679"/>
                  <a:pt x="560588" y="4174046"/>
                  <a:pt x="482031" y="4063258"/>
                </a:cubicBezTo>
                <a:cubicBezTo>
                  <a:pt x="156446" y="3603895"/>
                  <a:pt x="0" y="3365006"/>
                  <a:pt x="0" y="2955950"/>
                </a:cubicBezTo>
                <a:cubicBezTo>
                  <a:pt x="0" y="2549782"/>
                  <a:pt x="98062" y="2148559"/>
                  <a:pt x="291250" y="1763422"/>
                </a:cubicBezTo>
                <a:cubicBezTo>
                  <a:pt x="480295" y="1386666"/>
                  <a:pt x="750568" y="1041802"/>
                  <a:pt x="1094457" y="738720"/>
                </a:cubicBezTo>
                <a:cubicBezTo>
                  <a:pt x="1432467" y="440725"/>
                  <a:pt x="1833935" y="194963"/>
                  <a:pt x="2255713" y="280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2348ECDC-D455-4B71-90F6-2ECC12B7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3734" y="0"/>
            <a:ext cx="5568114" cy="5577748"/>
          </a:xfrm>
          <a:custGeom>
            <a:avLst/>
            <a:gdLst>
              <a:gd name="connsiteX0" fmla="*/ 2959946 w 5568114"/>
              <a:gd name="connsiteY0" fmla="*/ 0 h 5577748"/>
              <a:gd name="connsiteX1" fmla="*/ 3614224 w 5568114"/>
              <a:gd name="connsiteY1" fmla="*/ 0 h 5577748"/>
              <a:gd name="connsiteX2" fmla="*/ 3844432 w 5568114"/>
              <a:gd name="connsiteY2" fmla="*/ 36392 h 5577748"/>
              <a:gd name="connsiteX3" fmla="*/ 4336826 w 5568114"/>
              <a:gd name="connsiteY3" fmla="*/ 203778 h 5577748"/>
              <a:gd name="connsiteX4" fmla="*/ 5093304 w 5568114"/>
              <a:gd name="connsiteY4" fmla="*/ 806978 h 5577748"/>
              <a:gd name="connsiteX5" fmla="*/ 5496656 w 5568114"/>
              <a:gd name="connsiteY5" fmla="*/ 1495125 h 5577748"/>
              <a:gd name="connsiteX6" fmla="*/ 5568114 w 5568114"/>
              <a:gd name="connsiteY6" fmla="*/ 1692569 h 5577748"/>
              <a:gd name="connsiteX7" fmla="*/ 5568114 w 5568114"/>
              <a:gd name="connsiteY7" fmla="*/ 3665503 h 5577748"/>
              <a:gd name="connsiteX8" fmla="*/ 5466225 w 5568114"/>
              <a:gd name="connsiteY8" fmla="*/ 3819786 h 5577748"/>
              <a:gd name="connsiteX9" fmla="*/ 4579336 w 5568114"/>
              <a:gd name="connsiteY9" fmla="*/ 4635686 h 5577748"/>
              <a:gd name="connsiteX10" fmla="*/ 4384340 w 5568114"/>
              <a:gd name="connsiteY10" fmla="*/ 4791760 h 5577748"/>
              <a:gd name="connsiteX11" fmla="*/ 2782048 w 5568114"/>
              <a:gd name="connsiteY11" fmla="*/ 5577748 h 5577748"/>
              <a:gd name="connsiteX12" fmla="*/ 671354 w 5568114"/>
              <a:gd name="connsiteY12" fmla="*/ 4300148 h 5577748"/>
              <a:gd name="connsiteX13" fmla="*/ 446415 w 5568114"/>
              <a:gd name="connsiteY13" fmla="*/ 3973302 h 5577748"/>
              <a:gd name="connsiteX14" fmla="*/ 0 w 5568114"/>
              <a:gd name="connsiteY14" fmla="*/ 2943554 h 5577748"/>
              <a:gd name="connsiteX15" fmla="*/ 269730 w 5568114"/>
              <a:gd name="connsiteY15" fmla="*/ 1834555 h 5577748"/>
              <a:gd name="connsiteX16" fmla="*/ 1013589 w 5568114"/>
              <a:gd name="connsiteY16" fmla="*/ 881627 h 5577748"/>
              <a:gd name="connsiteX17" fmla="*/ 2089042 w 5568114"/>
              <a:gd name="connsiteY17" fmla="*/ 220777 h 5577748"/>
              <a:gd name="connsiteX18" fmla="*/ 2845684 w 5568114"/>
              <a:gd name="connsiteY18" fmla="*/ 14234 h 557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568114" h="5577748">
                <a:moveTo>
                  <a:pt x="2959946" y="0"/>
                </a:moveTo>
                <a:lnTo>
                  <a:pt x="3614224" y="0"/>
                </a:lnTo>
                <a:lnTo>
                  <a:pt x="3844432" y="36392"/>
                </a:lnTo>
                <a:cubicBezTo>
                  <a:pt x="4017699" y="73748"/>
                  <a:pt x="4182227" y="129639"/>
                  <a:pt x="4336826" y="203778"/>
                </a:cubicBezTo>
                <a:cubicBezTo>
                  <a:pt x="4626600" y="342850"/>
                  <a:pt x="4881111" y="545834"/>
                  <a:pt x="5093304" y="806978"/>
                </a:cubicBezTo>
                <a:cubicBezTo>
                  <a:pt x="5255931" y="1007198"/>
                  <a:pt x="5391154" y="1239036"/>
                  <a:pt x="5496656" y="1495125"/>
                </a:cubicBezTo>
                <a:lnTo>
                  <a:pt x="5568114" y="1692569"/>
                </a:lnTo>
                <a:lnTo>
                  <a:pt x="5568114" y="3665503"/>
                </a:lnTo>
                <a:lnTo>
                  <a:pt x="5466225" y="3819786"/>
                </a:lnTo>
                <a:cubicBezTo>
                  <a:pt x="5249576" y="4101511"/>
                  <a:pt x="4924044" y="4360994"/>
                  <a:pt x="4579336" y="4635686"/>
                </a:cubicBezTo>
                <a:cubicBezTo>
                  <a:pt x="4515738" y="4686305"/>
                  <a:pt x="4450038" y="4738713"/>
                  <a:pt x="4384340" y="4791760"/>
                </a:cubicBezTo>
                <a:cubicBezTo>
                  <a:pt x="3796254" y="5266498"/>
                  <a:pt x="3367038" y="5577748"/>
                  <a:pt x="2782048" y="5577748"/>
                </a:cubicBezTo>
                <a:cubicBezTo>
                  <a:pt x="1890703" y="5577748"/>
                  <a:pt x="1259439" y="5195682"/>
                  <a:pt x="671354" y="4300148"/>
                </a:cubicBezTo>
                <a:cubicBezTo>
                  <a:pt x="594395" y="4182934"/>
                  <a:pt x="519167" y="4076330"/>
                  <a:pt x="446415" y="3973302"/>
                </a:cubicBezTo>
                <a:cubicBezTo>
                  <a:pt x="144886" y="3546115"/>
                  <a:pt x="0" y="3323958"/>
                  <a:pt x="0" y="2943554"/>
                </a:cubicBezTo>
                <a:cubicBezTo>
                  <a:pt x="0" y="2565835"/>
                  <a:pt x="90816" y="2192716"/>
                  <a:pt x="269730" y="1834555"/>
                </a:cubicBezTo>
                <a:cubicBezTo>
                  <a:pt x="444806" y="1484188"/>
                  <a:pt x="695109" y="1163480"/>
                  <a:pt x="1013589" y="881627"/>
                </a:cubicBezTo>
                <a:cubicBezTo>
                  <a:pt x="1326624" y="604505"/>
                  <a:pt x="1698428" y="375956"/>
                  <a:pt x="2089042" y="220777"/>
                </a:cubicBezTo>
                <a:cubicBezTo>
                  <a:pt x="2339747" y="120996"/>
                  <a:pt x="2592918" y="51971"/>
                  <a:pt x="2845684" y="1423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28" name="Picture 4" descr="Warning Sign - Danger Alert – Royalty-Free Vector | VectorStock">
            <a:extLst>
              <a:ext uri="{FF2B5EF4-FFF2-40B4-BE49-F238E27FC236}">
                <a16:creationId xmlns:a16="http://schemas.microsoft.com/office/drawing/2014/main" id="{06658DE3-BB0F-2334-C57F-386DE5E4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3130" y="1484408"/>
            <a:ext cx="3774974" cy="239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72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B1CA7D-FD9E-F799-27F5-77792F96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Docker </a:t>
            </a:r>
            <a:r>
              <a:rPr lang="pl-PL" dirty="0" err="1"/>
              <a:t>compose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7F7CA6-3AE2-40B9-7BC5-E4FCA15B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Docker Compose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pozwala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opisać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całe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lokalne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środowisko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uruchomieniowe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w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jednym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pliku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YAML.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Zamiast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startować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każdy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kontener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osobno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definiujemy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zestaw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usług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oraz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relacje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między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nimi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pl-PL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praktyce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Compose jest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wygodne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gdy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aplikacja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składa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się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z co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najmniej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dwóch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warstw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przykład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frontend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lub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backend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webowy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oraz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baza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danych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Dzięki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temu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studenci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pracują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spójnym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środowisku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które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łatwo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uruchomić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zatrzymać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odtworzyć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pl-PL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97470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EB64FC-8371-E2D5-3B2F-1F913330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Docker </a:t>
            </a:r>
            <a:r>
              <a:rPr lang="pl-PL" dirty="0" err="1"/>
              <a:t>compose</a:t>
            </a:r>
            <a:r>
              <a:rPr lang="pl-PL" dirty="0"/>
              <a:t> – najważniejsze pojęcia 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493D5A9E-A16E-200F-13CA-78614E5E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638186"/>
              </p:ext>
            </p:extLst>
          </p:nvPr>
        </p:nvGraphicFramePr>
        <p:xfrm>
          <a:off x="1920875" y="2312988"/>
          <a:ext cx="8769350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5473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EB0455-247F-C8B2-74E7-1EA9B52C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Razem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88BF3C-D98C-2C0F-AE32-4622FF6E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305" y="2520778"/>
            <a:ext cx="6116595" cy="40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11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53CD91-0C1D-3206-916C-BBB5905E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Docker </a:t>
            </a:r>
            <a:r>
              <a:rPr lang="pl-PL" dirty="0" err="1"/>
              <a:t>compose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6969030-8CFB-9A58-22E6-FD836F9A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59453"/>
            <a:ext cx="6250459" cy="416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583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158" y="1068946"/>
            <a:ext cx="4960104" cy="47355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92" y="912854"/>
            <a:ext cx="5298208" cy="503229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583" y="1197735"/>
            <a:ext cx="4641209" cy="447461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4DA309D-EA8E-C471-F94D-71927AD9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184" y="1895742"/>
            <a:ext cx="4960104" cy="236267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700" dirty="0" err="1"/>
              <a:t>Przykładowy</a:t>
            </a:r>
            <a:r>
              <a:rPr lang="en-US" sz="3700" dirty="0"/>
              <a:t> </a:t>
            </a:r>
            <a:r>
              <a:rPr lang="en-US" sz="3700" dirty="0" err="1"/>
              <a:t>plik</a:t>
            </a:r>
            <a:r>
              <a:rPr lang="en-US" sz="3700" dirty="0"/>
              <a:t> docker-</a:t>
            </a:r>
            <a:r>
              <a:rPr lang="en-US" sz="3700" dirty="0" err="1"/>
              <a:t>compose.yaml</a:t>
            </a:r>
            <a:endParaRPr lang="en-US" sz="37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D7931AF-7324-F7A8-D130-938503326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51023"/>
              </p:ext>
            </p:extLst>
          </p:nvPr>
        </p:nvGraphicFramePr>
        <p:xfrm>
          <a:off x="6980760" y="965200"/>
          <a:ext cx="4130437" cy="5393542"/>
        </p:xfrm>
        <a:graphic>
          <a:graphicData uri="http://schemas.openxmlformats.org/drawingml/2006/table">
            <a:tbl>
              <a:tblPr firstRow="1" firstCol="1" bandRow="1"/>
              <a:tblGrid>
                <a:gridCol w="4130437">
                  <a:extLst>
                    <a:ext uri="{9D8B030D-6E8A-4147-A177-3AD203B41FA5}">
                      <a16:colId xmlns:a16="http://schemas.microsoft.com/office/drawing/2014/main" val="2022468534"/>
                    </a:ext>
                  </a:extLst>
                </a:gridCol>
              </a:tblGrid>
              <a:tr h="4927600">
                <a:tc>
                  <a:txBody>
                    <a:bodyPr/>
                    <a:lstStyle/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services: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web: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build: ./web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ports: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"8000:8000"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environment: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DB_HOST: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DB_NAME: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DB_USER: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appuser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DB_PASSWORD: secret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depends_on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image: postgres:16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environment: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POSTGRES_DB: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POSTGRES_USER: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appuser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POSTGRES_PASSWORD: secret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volumes: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pgdata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:/var/lib/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postgresql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/data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volumes: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pgdata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networks: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default: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name: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szkolenie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-compose-net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069" marR="56069" marT="48059" marB="480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552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5201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5CCFC799-E64B-6F61-1A68-C946B50E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635" y="313709"/>
            <a:ext cx="4288354" cy="6432531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7A81EE4-F440-1AAF-0E91-EB3161711F66}"/>
              </a:ext>
            </a:extLst>
          </p:cNvPr>
          <p:cNvSpPr txBox="1"/>
          <p:nvPr/>
        </p:nvSpPr>
        <p:spPr>
          <a:xfrm>
            <a:off x="395405" y="313710"/>
            <a:ext cx="4613475" cy="64325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services: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web: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build: ./web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ports: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"8000:8000"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environment: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DB_HOST: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DB_NAME: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DB_USER: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appuser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DB_PASSWORD: secret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depends_on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image: postgres:16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environment: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POSTGRES_DB: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POSTGRES_USER: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appuser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POSTGRES_PASSWORD: secret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volumes: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pgdata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:/var/lib/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postgresql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/data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volumes: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pgdata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default: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szkolenie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-compose-net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0" name="Strzałka w lewo i prawo 9">
            <a:extLst>
              <a:ext uri="{FF2B5EF4-FFF2-40B4-BE49-F238E27FC236}">
                <a16:creationId xmlns:a16="http://schemas.microsoft.com/office/drawing/2014/main" id="{B53F0691-E431-E94A-ACB4-8FE0EABA2049}"/>
              </a:ext>
            </a:extLst>
          </p:cNvPr>
          <p:cNvSpPr/>
          <p:nvPr/>
        </p:nvSpPr>
        <p:spPr>
          <a:xfrm>
            <a:off x="3251201" y="1813560"/>
            <a:ext cx="3664434" cy="7315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4469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52C41-8E8A-DA6E-7E6E-23AF5A3A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Komendy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E462545-E4F8-413A-242D-14165BE0A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284576"/>
              </p:ext>
            </p:extLst>
          </p:nvPr>
        </p:nvGraphicFramePr>
        <p:xfrm>
          <a:off x="1920240" y="2550160"/>
          <a:ext cx="8770571" cy="35763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67280">
                  <a:extLst>
                    <a:ext uri="{9D8B030D-6E8A-4147-A177-3AD203B41FA5}">
                      <a16:colId xmlns:a16="http://schemas.microsoft.com/office/drawing/2014/main" val="391121569"/>
                    </a:ext>
                  </a:extLst>
                </a:gridCol>
                <a:gridCol w="6403291">
                  <a:extLst>
                    <a:ext uri="{9D8B030D-6E8A-4147-A177-3AD203B41FA5}">
                      <a16:colId xmlns:a16="http://schemas.microsoft.com/office/drawing/2014/main" val="1940571728"/>
                    </a:ext>
                  </a:extLst>
                </a:gridCol>
              </a:tblGrid>
              <a:tr h="5089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Komenda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Zastosowanie</a:t>
                      </a:r>
                      <a:endParaRPr lang="pl-PL" sz="11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916542663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</a:rPr>
                        <a:t>docker compose up -d</a:t>
                      </a:r>
                      <a:endParaRPr lang="pl-PL" sz="900" dirty="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uruchamia środowisko w tle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380744055"/>
                  </a:ext>
                </a:extLst>
              </a:tr>
              <a:tr h="801254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down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l-PL" sz="1100">
                          <a:effectLst/>
                        </a:rPr>
                        <a:t>zatrzymuje i usuwa kontenery, sieci oraz domyślne zasoby projektu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902036976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logs -f web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śledzi logi wskazanej usługi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2906384137"/>
                  </a:ext>
                </a:extLst>
              </a:tr>
              <a:tr h="801254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exec web sh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l-PL" sz="1100">
                          <a:effectLst/>
                        </a:rPr>
                        <a:t>uruchamia powłokę wewnątrz działającego kontenera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4270181009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ps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pokazuje</a:t>
                      </a:r>
                      <a:r>
                        <a:rPr lang="en-US" sz="1100" dirty="0">
                          <a:effectLst/>
                        </a:rPr>
                        <a:t> stan </a:t>
                      </a:r>
                      <a:r>
                        <a:rPr lang="en-US" sz="1100" dirty="0" err="1">
                          <a:effectLst/>
                        </a:rPr>
                        <a:t>usług</a:t>
                      </a:r>
                      <a:endParaRPr lang="pl-PL" sz="11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925211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549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04AE28-E1D7-F063-2B8F-02601E14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Lab 4 </a:t>
            </a:r>
          </a:p>
        </p:txBody>
      </p:sp>
      <p:pic>
        <p:nvPicPr>
          <p:cNvPr id="5" name="Symbol zastępczy zawartości 4" descr="Obraz zawierający tekst, zrzut ekranu, Czcionka, multimedia&#10;&#10;Opis wygenerowany automatycznie">
            <a:extLst>
              <a:ext uri="{FF2B5EF4-FFF2-40B4-BE49-F238E27FC236}">
                <a16:creationId xmlns:a16="http://schemas.microsoft.com/office/drawing/2014/main" id="{577FEC8C-1FAD-C2CB-A5F2-43E9DEE51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225" y="2833688"/>
            <a:ext cx="4406900" cy="1562100"/>
          </a:xfrm>
        </p:spPr>
      </p:pic>
    </p:spTree>
    <p:extLst>
      <p:ext uri="{BB962C8B-B14F-4D97-AF65-F5344CB8AC3E}">
        <p14:creationId xmlns:p14="http://schemas.microsoft.com/office/powerpoint/2010/main" val="38294203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A330-C1C8-2138-35A8-20D13EE3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AED327-A8B0-6653-255A-02391DF7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Moduł 4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839C8D-5D9C-B5FE-21AD-71C3037C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Cele modułu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Strategie testowania kontenery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diagnostyka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Unit testy w Docker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Integration testy dla kontenerów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CMD, HTTP, TCP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Monitorowanie logów i metryki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Implementacja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51698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Health Checks in Docker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3413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Strategie, implementacja i monitoring kontenerów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Gajda | Politechnika Gdańska</a:t>
            </a:r>
            <a:endParaRPr lang="en-US" sz="1867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modułu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1047750" y="212979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Zrozumienie strategii testowania aplikacji w kontenerach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1047750" y="298323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Implementacja unit testów i testów integracyjnych dla Docker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047750" y="383667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Konfiguracja i monitoring health checks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047750" y="469011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Obsługa logów i zbieranie metryk z kontenerów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047750" y="554355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Praktyczne zastosowanie w workflow CI/CD</a:t>
            </a:r>
            <a:endParaRPr lang="en-US" sz="1867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testowania kontenerów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73152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indywidualnych komponentów kodu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3568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365760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współpracy komponentów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6176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658368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Testing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obrazu i konfiguracji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8784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50976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50976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stanu kontenera w runtime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testy w Docker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69545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23050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Uruchomienie testów wewnątrz kontenera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853440" y="29146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Gwarancja spójności środowiska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53440" y="35242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Izolacja zależności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53440" y="41338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Powtarzalność testów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6339840" y="1280160"/>
            <a:ext cx="5242560" cy="40233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pytest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["pytest", "tests/"]</a:t>
            </a:r>
            <a:endParaRPr lang="en-US" sz="1467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</a:t>
            </a:r>
            <a:r>
              <a:rPr lang="en-US" sz="58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integracyjne</a:t>
            </a:r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kontenerów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dla testów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828800"/>
            <a:ext cx="10972800" cy="304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853440" y="2072640"/>
            <a:ext cx="1048512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DB_HOST=postgres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POSTGRES_PASSWORD=test</a:t>
            </a:r>
            <a:endParaRPr lang="en-US" sz="1467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Checks: Typy i Implementacja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213360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 komendę wewnątrz kontenera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7" name="Text 5"/>
          <p:cNvSpPr/>
          <p:nvPr/>
        </p:nvSpPr>
        <p:spPr>
          <a:xfrm>
            <a:off x="79248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|| exit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4528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45280" y="209931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 żądanie HTTP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8432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 dirty="0"/>
          </a:p>
        </p:txBody>
      </p:sp>
      <p:sp>
        <p:nvSpPr>
          <p:cNvPr id="11" name="Text 9"/>
          <p:cNvSpPr/>
          <p:nvPr/>
        </p:nvSpPr>
        <p:spPr>
          <a:xfrm>
            <a:off x="432816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--timeout=3s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http://localhost:8000/health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80960" y="207264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dostępność portu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096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5" name="Text 13"/>
          <p:cNvSpPr/>
          <p:nvPr/>
        </p:nvSpPr>
        <p:spPr>
          <a:xfrm>
            <a:off x="786384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--timeout=3s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nc -z localhost 5432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logów kontenerów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975360" y="156057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&lt;container&gt;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0" y="156057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 logi kontenera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09600" y="2255520"/>
            <a:ext cx="10972800" cy="6705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975360" y="235305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&lt;container&gt;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096000" y="235305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mode (live logs)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609600" y="3048000"/>
            <a:ext cx="1097280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975360" y="314553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--since 1h &lt;container&gt;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6096000" y="314553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 z ostatniej godziny</a:t>
            </a:r>
            <a:endParaRPr lang="en-US" sz="1867" dirty="0"/>
          </a:p>
        </p:txBody>
      </p:sp>
      <p:sp>
        <p:nvSpPr>
          <p:cNvPr id="13" name="Shape 11"/>
          <p:cNvSpPr/>
          <p:nvPr/>
        </p:nvSpPr>
        <p:spPr>
          <a:xfrm>
            <a:off x="609600" y="3840480"/>
            <a:ext cx="10972800" cy="6705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75360" y="393801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&lt;container&gt;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096000" y="393801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Szczegółowe info o kontenerze</a:t>
            </a:r>
            <a:endParaRPr lang="en-US" sz="1867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 monitoring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53440" y="17678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CPU Usage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853440" y="225552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Memory Usage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53440" y="2743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Network I/O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53440" y="323088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Block I/O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853440" y="371856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PIDs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339840" y="1219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 do monitoringu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176784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Prometheus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6583680" y="225552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Grafana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cAdvisor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6583680" y="323088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Portainer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6096000" y="1584960"/>
            <a:ext cx="0" cy="3048000"/>
          </a:xfrm>
          <a:prstGeom prst="line">
            <a:avLst/>
          </a:prstGeom>
          <a:noFill/>
          <a:ln w="254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6" name="Text 14"/>
          <p:cNvSpPr/>
          <p:nvPr/>
        </p:nvSpPr>
        <p:spPr>
          <a:xfrm>
            <a:off x="609600" y="426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09600" y="4754880"/>
            <a:ext cx="1097280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8" name="Text 16"/>
          <p:cNvSpPr/>
          <p:nvPr/>
        </p:nvSpPr>
        <p:spPr>
          <a:xfrm>
            <a:off x="853440" y="4937760"/>
            <a:ext cx="1048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--no-stream --format "table {{.Container}}	{{.CPUPerc}}	{{.MemUsage}}"</a:t>
            </a:r>
            <a:endParaRPr lang="en-US" sz="1467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3413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Orkiestracja aplikacji wielokonteneru</a:t>
            </a:r>
            <a:endParaRPr lang="en-US" sz="3733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w Docker Compose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463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853440" y="1463040"/>
            <a:ext cx="1048512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myapp:1.0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 "curl", "-f", "http://localhost:8000/health"]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30s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10s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3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start_period: 40s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postgres"]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10s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5s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5</a:t>
            </a:r>
            <a:endParaRPr lang="en-US" sz="1333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Podstawowe polecenia Compose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975360" y="154838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6096000" y="154838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stack w tle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109216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975360" y="219456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0" y="21945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Zatrzymaj i usuń kontenery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09600" y="2755392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975360" y="284073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0" y="2840736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 logi wszystkich serwisów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609600" y="3401568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75360" y="3486912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096000" y="3486912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Pokaż status serwisów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09600" y="4047744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7" name="Text 15"/>
          <p:cNvSpPr/>
          <p:nvPr/>
        </p:nvSpPr>
        <p:spPr>
          <a:xfrm>
            <a:off x="975360" y="4133088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web bash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096000" y="4133088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Połącz się z kontenerem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609600" y="4693920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0" name="Text 18"/>
          <p:cNvSpPr/>
          <p:nvPr/>
        </p:nvSpPr>
        <p:spPr>
          <a:xfrm>
            <a:off x="975360" y="477926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6096000" y="477926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Zrestartuj wszystkie serwisy</a:t>
            </a:r>
            <a:endParaRPr lang="en-US" sz="1733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505331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609600" y="1541907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219200" y="1444371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41120" y="1749171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definiuj health checks dla zależnych serwisów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09600" y="2334387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9" name="Text 7"/>
          <p:cNvSpPr/>
          <p:nvPr/>
        </p:nvSpPr>
        <p:spPr>
          <a:xfrm>
            <a:off x="609600" y="2370963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219200" y="2273427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41120" y="2578227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Użyj condition: service_healthy dla właściwych zależności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09600" y="3163443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3" name="Text 11"/>
          <p:cNvSpPr/>
          <p:nvPr/>
        </p:nvSpPr>
        <p:spPr>
          <a:xfrm>
            <a:off x="609600" y="3200019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219200" y="3102483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41120" y="3407283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Pin'uj wersje obrazów zamiast 'latest'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09600" y="3992499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7" name="Text 15"/>
          <p:cNvSpPr/>
          <p:nvPr/>
        </p:nvSpPr>
        <p:spPr>
          <a:xfrm>
            <a:off x="609600" y="4029075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219200" y="3931539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41120" y="4236339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Używaj custom networks zamiast legacy linking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609600" y="4821555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1" name="Text 19"/>
          <p:cNvSpPr/>
          <p:nvPr/>
        </p:nvSpPr>
        <p:spPr>
          <a:xfrm>
            <a:off x="609600" y="4858131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219200" y="4760595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41120" y="5065395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Zarządzaj zmiennymi przez .env files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609600" y="5650611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5" name="Text 23"/>
          <p:cNvSpPr/>
          <p:nvPr/>
        </p:nvSpPr>
        <p:spPr>
          <a:xfrm>
            <a:off x="609600" y="5687187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1219200" y="5589651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341120" y="5894451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limity CPU i memory dla każdego serwisu</a:t>
            </a:r>
            <a:endParaRPr lang="en-US" sz="1733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95253EB-AEB0-C4E1-3370-891872DA1BDA}"/>
              </a:ext>
            </a:extLst>
          </p:cNvPr>
          <p:cNvSpPr txBox="1"/>
          <p:nvPr/>
        </p:nvSpPr>
        <p:spPr>
          <a:xfrm>
            <a:off x="1905000" y="1609725"/>
            <a:ext cx="3133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Lab 6 i Lab 5</a:t>
            </a:r>
          </a:p>
        </p:txBody>
      </p:sp>
    </p:spTree>
    <p:extLst>
      <p:ext uri="{BB962C8B-B14F-4D97-AF65-F5344CB8AC3E}">
        <p14:creationId xmlns:p14="http://schemas.microsoft.com/office/powerpoint/2010/main" val="407177595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</TotalTime>
  <Words>3102</Words>
  <Application>Microsoft Macintosh PowerPoint</Application>
  <PresentationFormat>Panoramiczny</PresentationFormat>
  <Paragraphs>647</Paragraphs>
  <Slides>75</Slides>
  <Notes>19</Notes>
  <HiddenSlides>0</HiddenSlides>
  <MMClips>0</MMClips>
  <ScaleCrop>false</ScaleCrop>
  <HeadingPairs>
    <vt:vector size="6" baseType="variant">
      <vt:variant>
        <vt:lpstr>Używane czcionki</vt:lpstr>
      </vt:variant>
      <vt:variant>
        <vt:i4>9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75</vt:i4>
      </vt:variant>
    </vt:vector>
  </HeadingPairs>
  <TitlesOfParts>
    <vt:vector size="85" baseType="lpstr">
      <vt:lpstr>Meiryo</vt:lpstr>
      <vt:lpstr>Aptos</vt:lpstr>
      <vt:lpstr>Arial</vt:lpstr>
      <vt:lpstr>Calibri</vt:lpstr>
      <vt:lpstr>Consolas</vt:lpstr>
      <vt:lpstr>Corbel</vt:lpstr>
      <vt:lpstr>Courier New</vt:lpstr>
      <vt:lpstr>Menlo</vt:lpstr>
      <vt:lpstr>Wingdings</vt:lpstr>
      <vt:lpstr>SketchLinesVTI</vt:lpstr>
      <vt:lpstr>DevOps</vt:lpstr>
      <vt:lpstr>Cel </vt:lpstr>
      <vt:lpstr>Wymagania wstępne</vt:lpstr>
      <vt:lpstr>Moduł 1</vt:lpstr>
      <vt:lpstr>Moduł 2</vt:lpstr>
      <vt:lpstr>Moduł 3</vt:lpstr>
      <vt:lpstr>Moduł 4</vt:lpstr>
      <vt:lpstr>Moduł 5</vt:lpstr>
      <vt:lpstr>Moduł 1</vt:lpstr>
      <vt:lpstr>Docker - Czym jest konteneryzacja?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Architektura image - dockerfile</vt:lpstr>
      <vt:lpstr>Budowanie i uruchamianie</vt:lpstr>
      <vt:lpstr>KISS (Keep this Simple Stupid)</vt:lpstr>
      <vt:lpstr>Proces</vt:lpstr>
      <vt:lpstr>Praktyka – utwórz konto</vt:lpstr>
      <vt:lpstr>0-cwiczenie</vt:lpstr>
      <vt:lpstr>Lab 1</vt:lpstr>
      <vt:lpstr>Praktyka - Tworzysz obraz aplikacji </vt:lpstr>
      <vt:lpstr>Praktyka docker login</vt:lpstr>
      <vt:lpstr>Praktyka wysłanie </vt:lpstr>
      <vt:lpstr>Praktyka pobranie </vt:lpstr>
      <vt:lpstr>Praktyka uruchomienie</vt:lpstr>
      <vt:lpstr>Praktyka uruchomienie</vt:lpstr>
      <vt:lpstr>Inne komendy</vt:lpstr>
      <vt:lpstr>Inne komendy</vt:lpstr>
      <vt:lpstr>Inne komendy docker</vt:lpstr>
      <vt:lpstr>Docker logs</vt:lpstr>
      <vt:lpstr>Docker exec</vt:lpstr>
      <vt:lpstr>Lab 2</vt:lpstr>
      <vt:lpstr>Moduł 2</vt:lpstr>
      <vt:lpstr>Architektura image - dockerfile</vt:lpstr>
      <vt:lpstr>Best practice – minimalizuj ilość warstw</vt:lpstr>
      <vt:lpstr>Best practice – minimalizuj ilość warstw</vt:lpstr>
      <vt:lpstr>Best practice .dockerignore </vt:lpstr>
      <vt:lpstr>Best practice Multi-stage builds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Best practice</vt:lpstr>
      <vt:lpstr>Lab 3</vt:lpstr>
      <vt:lpstr>Best practice</vt:lpstr>
      <vt:lpstr>Best practice</vt:lpstr>
      <vt:lpstr>Moduł 3</vt:lpstr>
      <vt:lpstr>Docker compose</vt:lpstr>
      <vt:lpstr>Docker compose – najważniejsze pojęcia </vt:lpstr>
      <vt:lpstr>Razem </vt:lpstr>
      <vt:lpstr>Architektura Docker compose</vt:lpstr>
      <vt:lpstr>Przykładowy plik docker-compose.yaml</vt:lpstr>
      <vt:lpstr>Prezentacja programu PowerPoint</vt:lpstr>
      <vt:lpstr>Komendy</vt:lpstr>
      <vt:lpstr>Lab 4 </vt:lpstr>
      <vt:lpstr>Moduł 4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Jakub Gajda</dc:creator>
  <cp:lastModifiedBy>Jakub Gajda</cp:lastModifiedBy>
  <cp:revision>7</cp:revision>
  <dcterms:created xsi:type="dcterms:W3CDTF">2026-03-11T10:15:26Z</dcterms:created>
  <dcterms:modified xsi:type="dcterms:W3CDTF">2026-04-20T07:54:55Z</dcterms:modified>
</cp:coreProperties>
</file>